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20"/>
  </p:notesMasterIdLst>
  <p:sldIdLst>
    <p:sldId id="259" r:id="rId5"/>
    <p:sldId id="280" r:id="rId6"/>
    <p:sldId id="261" r:id="rId7"/>
    <p:sldId id="279" r:id="rId8"/>
    <p:sldId id="276" r:id="rId9"/>
    <p:sldId id="278" r:id="rId10"/>
    <p:sldId id="277" r:id="rId11"/>
    <p:sldId id="287" r:id="rId12"/>
    <p:sldId id="283" r:id="rId13"/>
    <p:sldId id="284" r:id="rId14"/>
    <p:sldId id="285" r:id="rId15"/>
    <p:sldId id="286" r:id="rId16"/>
    <p:sldId id="289" r:id="rId17"/>
    <p:sldId id="270" r:id="rId18"/>
    <p:sldId id="27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FB3A2"/>
    <a:srgbClr val="1F4E4A"/>
    <a:srgbClr val="AFB3B2"/>
    <a:srgbClr val="202124"/>
    <a:srgbClr val="D8B35A"/>
    <a:srgbClr val="EAF2F0"/>
    <a:srgbClr val="8FA3A1"/>
    <a:srgbClr val="F3F6F6"/>
    <a:srgbClr val="D9A441"/>
    <a:srgbClr val="1F3D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566616-EBCB-43F1-9D4B-79CDC8CEF7E6}" v="2940" dt="2026-01-16T18:08:26.285"/>
    <p1510:client id="{31B19723-A3D4-4F9E-9F15-921F3A30F156}" v="2528" dt="2026-01-15T23:29:38.009"/>
    <p1510:client id="{B8DFC3C3-1CC8-4291-A3C0-BBD77EDD4027}" v="2147" dt="2026-01-16T18:11:46.9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1" d="100"/>
          <a:sy n="151" d="100"/>
        </p:scale>
        <p:origin x="65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666635-4EFA-401B-BCA8-437661AD7FF9}" type="datetimeFigureOut">
              <a:rPr lang="en-GB" smtClean="0"/>
              <a:t>16/01/2026</a:t>
            </a:fld>
            <a:endParaRPr lang="en-GB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C529D0-0610-4BA9-B527-89DCF439EB1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7351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CE0BBF-F738-3774-A284-8A2F361EDC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441325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>
                <a:solidFill>
                  <a:srgbClr val="1F4E4A"/>
                </a:solidFill>
                <a:latin typeface="+mj-lt"/>
              </a:defRPr>
            </a:lvl1pPr>
          </a:lstStyle>
          <a:p>
            <a:r>
              <a:rPr lang="en-GB"/>
              <a:t>Titel-</a:t>
            </a:r>
            <a:r>
              <a:rPr lang="en-GB" err="1"/>
              <a:t>Platzhalter</a:t>
            </a:r>
            <a:endParaRPr lang="en-GB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50F1FFB-A32A-C393-13D5-B2E88093417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120818"/>
            <a:ext cx="9144000" cy="1182241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Untertitel</a:t>
            </a:r>
            <a:endParaRPr lang="en-GB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6C65D4E5-435C-7AA8-EF79-653EB39C767D}"/>
              </a:ext>
            </a:extLst>
          </p:cNvPr>
          <p:cNvSpPr/>
          <p:nvPr userDrawn="1"/>
        </p:nvSpPr>
        <p:spPr>
          <a:xfrm rot="16200000">
            <a:off x="5917826" y="-5917827"/>
            <a:ext cx="356347" cy="12192000"/>
          </a:xfrm>
          <a:prstGeom prst="rect">
            <a:avLst/>
          </a:prstGeom>
          <a:solidFill>
            <a:srgbClr val="1F4E4A"/>
          </a:solidFill>
          <a:ln>
            <a:solidFill>
              <a:srgbClr val="1F4E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6877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2E8D93-5EA0-9283-B945-B6E7DD5A6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312" y="1700213"/>
            <a:ext cx="11145363" cy="96587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6E244BCB-2A45-0423-3C87-E87EDB9BFDA5}"/>
              </a:ext>
            </a:extLst>
          </p:cNvPr>
          <p:cNvSpPr/>
          <p:nvPr userDrawn="1"/>
        </p:nvSpPr>
        <p:spPr>
          <a:xfrm>
            <a:off x="497541" y="2545060"/>
            <a:ext cx="9197788" cy="50222"/>
          </a:xfrm>
          <a:prstGeom prst="roundRect">
            <a:avLst/>
          </a:prstGeom>
          <a:solidFill>
            <a:srgbClr val="5FB3A2"/>
          </a:solidFill>
          <a:ln>
            <a:solidFill>
              <a:srgbClr val="5FB3A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0535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405C5D-F6C7-71C0-93E2-C4B9DF180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59663AF6-953D-36EB-43FB-0DFB2358B5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39041" y="6366155"/>
            <a:ext cx="510427" cy="365125"/>
          </a:xfrm>
        </p:spPr>
        <p:txBody>
          <a:bodyPr/>
          <a:lstStyle/>
          <a:p>
            <a:r>
              <a:rPr lang="en-GB" b="1"/>
              <a:t>| </a:t>
            </a:r>
          </a:p>
        </p:txBody>
      </p:sp>
      <p:sp>
        <p:nvSpPr>
          <p:cNvPr id="4" name="Textplatzhalter 2">
            <a:extLst>
              <a:ext uri="{FF2B5EF4-FFF2-40B4-BE49-F238E27FC236}">
                <a16:creationId xmlns:a16="http://schemas.microsoft.com/office/drawing/2014/main" id="{58203CFC-F83A-7ED3-2BFD-5211483354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51312" y="1700213"/>
            <a:ext cx="11145362" cy="48485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2"/>
            <a:r>
              <a:rPr lang="de-DE"/>
              <a:t>Zweite Ebene</a:t>
            </a:r>
          </a:p>
        </p:txBody>
      </p:sp>
    </p:spTree>
    <p:extLst>
      <p:ext uri="{BB962C8B-B14F-4D97-AF65-F5344CB8AC3E}">
        <p14:creationId xmlns:p14="http://schemas.microsoft.com/office/powerpoint/2010/main" val="564561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405C5D-F6C7-71C0-93E2-C4B9DF180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59663AF6-953D-36EB-43FB-0DFB2358B5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GB" b="1"/>
              <a:t>| </a:t>
            </a:r>
          </a:p>
        </p:txBody>
      </p:sp>
      <p:sp>
        <p:nvSpPr>
          <p:cNvPr id="4" name="Textplatzhalter 2">
            <a:extLst>
              <a:ext uri="{FF2B5EF4-FFF2-40B4-BE49-F238E27FC236}">
                <a16:creationId xmlns:a16="http://schemas.microsoft.com/office/drawing/2014/main" id="{58203CFC-F83A-7ED3-2BFD-5211483354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1312" y="1700213"/>
            <a:ext cx="11145362" cy="48619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64337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9E97461-33B9-0450-41EA-75421F784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8D532-6853-4AB4-9533-57FBE8F3A5CB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1557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7BE2E07C-979A-BD09-1324-70484B30B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311" y="472964"/>
            <a:ext cx="11145363" cy="96587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287D334-7BB8-CE2E-8425-C7876C66EF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1312" y="1700213"/>
            <a:ext cx="11145362" cy="44450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39C5E90-D55D-F7CC-2823-3645CF414E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6247" y="6356350"/>
            <a:ext cx="510427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r">
              <a:defRPr sz="900">
                <a:solidFill>
                  <a:srgbClr val="8FA3A1"/>
                </a:solidFill>
              </a:defRPr>
            </a:lvl1pPr>
          </a:lstStyle>
          <a:p>
            <a:r>
              <a:rPr lang="en-GB" b="1"/>
              <a:t> </a:t>
            </a:r>
            <a:fld id="{8936DF29-42F4-44B9-AABD-9FEFF8C3B384}" type="slidenum">
              <a:rPr lang="en-GB" smtClean="0"/>
              <a:pPr/>
              <a:t>‹Nr.›</a:t>
            </a:fld>
            <a:r>
              <a:rPr lang="en-GB"/>
              <a:t> </a:t>
            </a:r>
            <a:r>
              <a:rPr lang="en-GB" b="1"/>
              <a:t>| 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D31D8933-ADE5-AF0F-22BF-E2B551B4D1E1}"/>
              </a:ext>
            </a:extLst>
          </p:cNvPr>
          <p:cNvSpPr/>
          <p:nvPr userDrawn="1"/>
        </p:nvSpPr>
        <p:spPr>
          <a:xfrm>
            <a:off x="11760000" y="0"/>
            <a:ext cx="432000" cy="6858000"/>
          </a:xfrm>
          <a:prstGeom prst="rect">
            <a:avLst/>
          </a:prstGeom>
          <a:solidFill>
            <a:srgbClr val="1F4E4A"/>
          </a:solidFill>
          <a:ln>
            <a:solidFill>
              <a:srgbClr val="1F4E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8661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6" r:id="rId2"/>
    <p:sldLayoutId id="2147483657" r:id="rId3"/>
    <p:sldLayoutId id="2147483658" r:id="rId4"/>
    <p:sldLayoutId id="2147483655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rgbClr val="1F4E4A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rgbClr val="202124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9" userDrawn="1">
          <p15:clr>
            <a:srgbClr val="F26B43"/>
          </p15:clr>
        </p15:guide>
        <p15:guide id="2" pos="7628" userDrawn="1">
          <p15:clr>
            <a:srgbClr val="F26B43"/>
          </p15:clr>
        </p15:guide>
        <p15:guide id="3" orient="horz" pos="4247" userDrawn="1">
          <p15:clr>
            <a:srgbClr val="F26B43"/>
          </p15:clr>
        </p15:guide>
        <p15:guide id="4" pos="52" userDrawn="1">
          <p15:clr>
            <a:srgbClr val="F26B43"/>
          </p15:clr>
        </p15:guide>
        <p15:guide id="5" orient="horz" pos="278" userDrawn="1">
          <p15:clr>
            <a:srgbClr val="F26B43"/>
          </p15:clr>
        </p15:guide>
        <p15:guide id="6" orient="horz" pos="913" userDrawn="1">
          <p15:clr>
            <a:srgbClr val="F26B43"/>
          </p15:clr>
        </p15:guide>
        <p15:guide id="7" pos="7242" userDrawn="1">
          <p15:clr>
            <a:srgbClr val="F26B43"/>
          </p15:clr>
        </p15:guide>
        <p15:guide id="8" pos="211" userDrawn="1">
          <p15:clr>
            <a:srgbClr val="F26B43"/>
          </p15:clr>
        </p15:guide>
        <p15:guide id="9" orient="horz" pos="1071" userDrawn="1">
          <p15:clr>
            <a:srgbClr val="F26B43"/>
          </p15:clr>
        </p15:guide>
        <p15:guide id="10" orient="horz" pos="38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moershe/dis26a1_process_mining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79F822-3EAC-EF0B-9602-7BA22FF396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72379" y="1462354"/>
            <a:ext cx="9144000" cy="2387600"/>
          </a:xfrm>
        </p:spPr>
        <p:txBody>
          <a:bodyPr>
            <a:normAutofit fontScale="90000"/>
          </a:bodyPr>
          <a:lstStyle/>
          <a:p>
            <a:pPr algn="l"/>
            <a:r>
              <a:rPr lang="en-US" noProof="0"/>
              <a:t>Understanding Execution Deviations in the O2C Process at </a:t>
            </a:r>
            <a:r>
              <a:rPr lang="en-US" noProof="0" err="1"/>
              <a:t>Woodcorp</a:t>
            </a:r>
            <a:endParaRPr lang="en-US" noProof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50E5A86-5F3B-E077-6B51-4CA58762D7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41700" y="3724638"/>
            <a:ext cx="9144000" cy="1182241"/>
          </a:xfrm>
        </p:spPr>
        <p:txBody>
          <a:bodyPr>
            <a:normAutofit/>
          </a:bodyPr>
          <a:lstStyle/>
          <a:p>
            <a:pPr algn="l"/>
            <a:r>
              <a:rPr lang="en-US" sz="2000" noProof="0"/>
              <a:t>From Planned Process to Actual Execution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E4A823B-8201-B113-AB4D-83BFF1C3706D}"/>
              </a:ext>
            </a:extLst>
          </p:cNvPr>
          <p:cNvSpPr txBox="1"/>
          <p:nvPr/>
        </p:nvSpPr>
        <p:spPr>
          <a:xfrm>
            <a:off x="222514" y="2909030"/>
            <a:ext cx="2540000" cy="178510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buNone/>
            </a:pPr>
            <a:r>
              <a:rPr lang="en-US" sz="1000" noProof="0">
                <a:solidFill>
                  <a:srgbClr val="8FA3A1"/>
                </a:solidFill>
              </a:rPr>
              <a:t>Fictitious Company: </a:t>
            </a:r>
            <a:r>
              <a:rPr lang="en-US" sz="1000" noProof="0" err="1">
                <a:solidFill>
                  <a:srgbClr val="8FA3A1"/>
                </a:solidFill>
              </a:rPr>
              <a:t>Woodcorp</a:t>
            </a:r>
            <a:br>
              <a:rPr lang="en-US" sz="1000" noProof="0"/>
            </a:br>
            <a:r>
              <a:rPr lang="en-US" sz="1000" noProof="0">
                <a:solidFill>
                  <a:srgbClr val="8FA3A1"/>
                </a:solidFill>
              </a:rPr>
              <a:t>Course: Process Mining (DIS 26a.1), BSc. Data and Information Science</a:t>
            </a:r>
            <a:br>
              <a:rPr lang="en-US" sz="1000" noProof="0"/>
            </a:br>
            <a:r>
              <a:rPr lang="en-US" sz="1000" noProof="0">
                <a:solidFill>
                  <a:srgbClr val="8FA3A1"/>
                </a:solidFill>
              </a:rPr>
              <a:t>Tool: </a:t>
            </a:r>
            <a:r>
              <a:rPr lang="en-US" sz="1000" noProof="0" err="1">
                <a:solidFill>
                  <a:srgbClr val="8FA3A1"/>
                </a:solidFill>
              </a:rPr>
              <a:t>Celonis</a:t>
            </a:r>
            <a:r>
              <a:rPr lang="en-US" sz="1000" noProof="0">
                <a:solidFill>
                  <a:srgbClr val="8FA3A1"/>
                </a:solidFill>
              </a:rPr>
              <a:t> (Process Mining)</a:t>
            </a:r>
            <a:br>
              <a:rPr lang="en-US" sz="1000" noProof="0"/>
            </a:br>
            <a:r>
              <a:rPr lang="en-US" sz="1000" noProof="0">
                <a:solidFill>
                  <a:srgbClr val="8FA3A1"/>
                </a:solidFill>
              </a:rPr>
              <a:t>Project Type: Academic Project</a:t>
            </a:r>
          </a:p>
          <a:p>
            <a:r>
              <a:rPr lang="en-US" sz="1000" noProof="0">
                <a:solidFill>
                  <a:srgbClr val="8FA3A1"/>
                </a:solidFill>
              </a:rPr>
              <a:t>Team: </a:t>
            </a:r>
            <a:r>
              <a:rPr lang="en-US" sz="1000" noProof="0">
                <a:solidFill>
                  <a:srgbClr val="AFB3B2"/>
                </a:solidFill>
              </a:rPr>
              <a:t>K </a:t>
            </a:r>
            <a:br>
              <a:rPr lang="en-US" sz="1000" noProof="0"/>
            </a:br>
            <a:r>
              <a:rPr lang="en-US" sz="1000" noProof="0">
                <a:solidFill>
                  <a:srgbClr val="8FA3A1"/>
                </a:solidFill>
              </a:rPr>
              <a:t>Team Members: </a:t>
            </a:r>
            <a:endParaRPr lang="en-US" sz="1000">
              <a:solidFill>
                <a:srgbClr val="8FA3A1"/>
              </a:solidFill>
            </a:endParaRPr>
          </a:p>
          <a:p>
            <a:r>
              <a:rPr lang="en-US" sz="1000" noProof="0">
                <a:solidFill>
                  <a:srgbClr val="8FA3A1"/>
                </a:solidFill>
              </a:rPr>
              <a:t>Jan Lucas Krings (11158700</a:t>
            </a:r>
            <a:r>
              <a:rPr lang="en-US" sz="1000">
                <a:solidFill>
                  <a:srgbClr val="8FA3A1"/>
                </a:solidFill>
              </a:rPr>
              <a:t>)</a:t>
            </a:r>
            <a:endParaRPr lang="en-US">
              <a:solidFill>
                <a:srgbClr val="202124"/>
              </a:solidFill>
            </a:endParaRPr>
          </a:p>
          <a:p>
            <a:r>
              <a:rPr lang="en-US" sz="1000" noProof="0">
                <a:solidFill>
                  <a:srgbClr val="8FA3A1"/>
                </a:solidFill>
              </a:rPr>
              <a:t>Henri </a:t>
            </a:r>
            <a:r>
              <a:rPr lang="en-US" sz="1000" noProof="0" err="1">
                <a:solidFill>
                  <a:srgbClr val="8FA3A1"/>
                </a:solidFill>
              </a:rPr>
              <a:t>Mörsheim</a:t>
            </a:r>
            <a:r>
              <a:rPr lang="en-US" sz="1000">
                <a:solidFill>
                  <a:srgbClr val="8FA3A1"/>
                </a:solidFill>
              </a:rPr>
              <a:t> (11158679)</a:t>
            </a:r>
            <a:br>
              <a:rPr lang="en-US" sz="1000" noProof="0"/>
            </a:br>
            <a:r>
              <a:rPr lang="en-US" sz="1000" noProof="0">
                <a:solidFill>
                  <a:srgbClr val="8FA3A1"/>
                </a:solidFill>
              </a:rPr>
              <a:t>University: TH Köln</a:t>
            </a:r>
            <a:br>
              <a:rPr lang="en-US" sz="1000" noProof="0"/>
            </a:br>
            <a:r>
              <a:rPr lang="en-US" sz="1000" noProof="0">
                <a:solidFill>
                  <a:srgbClr val="8FA3A1"/>
                </a:solidFill>
              </a:rPr>
              <a:t>Date: January 2026</a:t>
            </a:r>
            <a:endParaRPr lang="en-US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86014472-2BBF-BE26-03A6-BAB5A68D2615}"/>
              </a:ext>
            </a:extLst>
          </p:cNvPr>
          <p:cNvSpPr/>
          <p:nvPr/>
        </p:nvSpPr>
        <p:spPr>
          <a:xfrm>
            <a:off x="0" y="-1"/>
            <a:ext cx="12192000" cy="613833"/>
          </a:xfrm>
          <a:prstGeom prst="rect">
            <a:avLst/>
          </a:prstGeom>
          <a:solidFill>
            <a:srgbClr val="1F4E4A"/>
          </a:solidFill>
          <a:ln>
            <a:solidFill>
              <a:srgbClr val="1F4E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pic>
        <p:nvPicPr>
          <p:cNvPr id="16" name="Grafik 15" descr="Ein Bild, das Text, Screenshot, Design, Schrift enthält.&#10;&#10;KI-generierte Inhalte können fehlerhaft sein.">
            <a:extLst>
              <a:ext uri="{FF2B5EF4-FFF2-40B4-BE49-F238E27FC236}">
                <a16:creationId xmlns:a16="http://schemas.microsoft.com/office/drawing/2014/main" id="{F0DE353C-1D37-E1CD-1C13-9FC5DE329C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229" y="865454"/>
            <a:ext cx="2450571" cy="1906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3345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B9AB81-09D4-983A-8BC1-609CCF2B7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859" y="260467"/>
            <a:ext cx="11145363" cy="965871"/>
          </a:xfrm>
        </p:spPr>
        <p:txBody>
          <a:bodyPr>
            <a:normAutofit fontScale="90000"/>
          </a:bodyPr>
          <a:lstStyle/>
          <a:p>
            <a:r>
              <a:rPr lang="en-US" noProof="0" err="1">
                <a:ea typeface="+mj-lt"/>
                <a:cs typeface="+mj-lt"/>
              </a:rPr>
              <a:t>Woodcorp’s</a:t>
            </a:r>
            <a:r>
              <a:rPr lang="en-US" noProof="0">
                <a:ea typeface="+mj-lt"/>
                <a:cs typeface="+mj-lt"/>
              </a:rPr>
              <a:t> operating model structurally amplifies O2C execution deviations</a:t>
            </a:r>
            <a:endParaRPr lang="en-US" noProof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5AACF8E5-8298-1C2A-A68E-72E555276A09}"/>
              </a:ext>
            </a:extLst>
          </p:cNvPr>
          <p:cNvSpPr txBox="1"/>
          <p:nvPr/>
        </p:nvSpPr>
        <p:spPr>
          <a:xfrm>
            <a:off x="6096000" y="1700213"/>
            <a:ext cx="5603125" cy="210826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buNone/>
            </a:pPr>
            <a:r>
              <a:rPr lang="en-US" sz="1400" b="1" noProof="0"/>
              <a:t>Operational Footprint</a:t>
            </a:r>
          </a:p>
          <a:p>
            <a:pPr>
              <a:buNone/>
            </a:pPr>
            <a:endParaRPr lang="en-US" sz="1200" b="1" noProof="0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400" noProof="0">
                <a:ea typeface="+mn-lt"/>
                <a:cs typeface="+mn-lt"/>
              </a:rPr>
              <a:t>Multi-plant production network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400" noProof="0">
                <a:ea typeface="+mn-lt"/>
                <a:cs typeface="+mn-lt"/>
              </a:rPr>
              <a:t>Mixed automation levels</a:t>
            </a:r>
            <a:endParaRPr lang="en-US" sz="1400" noProof="0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400" noProof="0">
                <a:ea typeface="+mn-lt"/>
                <a:cs typeface="+mn-lt"/>
              </a:rPr>
              <a:t>Multiple external logistics providers</a:t>
            </a:r>
          </a:p>
          <a:p>
            <a:pPr lvl="0">
              <a:spcBef>
                <a:spcPct val="0"/>
              </a:spcBef>
              <a:spcAft>
                <a:spcPct val="0"/>
              </a:spcAft>
            </a:pPr>
            <a:endParaRPr lang="en-US" sz="1200" noProof="0"/>
          </a:p>
          <a:p>
            <a:pPr>
              <a:buNone/>
            </a:pPr>
            <a:r>
              <a:rPr lang="en-US" sz="1200" noProof="0"/>
              <a:t>This setup </a:t>
            </a:r>
            <a:r>
              <a:rPr lang="en-US" sz="1200" b="1" noProof="0"/>
              <a:t>increases coordination effort after order release </a:t>
            </a:r>
          </a:p>
          <a:p>
            <a:pPr>
              <a:buNone/>
            </a:pPr>
            <a:r>
              <a:rPr lang="en-US" sz="900" noProof="0">
                <a:solidFill>
                  <a:srgbClr val="1F4E4A"/>
                </a:solidFill>
              </a:rPr>
              <a:t>(</a:t>
            </a:r>
            <a:r>
              <a:rPr lang="en-US" sz="900" b="1" noProof="0">
                <a:solidFill>
                  <a:srgbClr val="1F4E4A"/>
                </a:solidFill>
              </a:rPr>
              <a:t>order release </a:t>
            </a:r>
            <a:r>
              <a:rPr lang="en-US" sz="900" noProof="0">
                <a:solidFill>
                  <a:srgbClr val="1F4E4A"/>
                </a:solidFill>
              </a:rPr>
              <a:t>= the point in the Order-to-Cash process where a confirmed sales order is handed over to production and logistics for execution)</a:t>
            </a:r>
            <a:endParaRPr lang="en-US" sz="1200" noProof="0">
              <a:solidFill>
                <a:srgbClr val="1F4E4A"/>
              </a:solidFill>
            </a:endParaRPr>
          </a:p>
        </p:txBody>
      </p:sp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60CE003B-5C7A-1DA5-BC32-69D8286C17FD}"/>
              </a:ext>
            </a:extLst>
          </p:cNvPr>
          <p:cNvSpPr/>
          <p:nvPr/>
        </p:nvSpPr>
        <p:spPr>
          <a:xfrm>
            <a:off x="5901132" y="1619250"/>
            <a:ext cx="55168" cy="4833159"/>
          </a:xfrm>
          <a:prstGeom prst="roundRect">
            <a:avLst/>
          </a:prstGeom>
          <a:solidFill>
            <a:srgbClr val="8FA3A1"/>
          </a:solidFill>
          <a:ln>
            <a:solidFill>
              <a:srgbClr val="8FA3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33E6EE39-6C8F-EC96-532C-B233D700E45C}"/>
              </a:ext>
            </a:extLst>
          </p:cNvPr>
          <p:cNvSpPr txBox="1"/>
          <p:nvPr/>
        </p:nvSpPr>
        <p:spPr>
          <a:xfrm>
            <a:off x="492875" y="1711451"/>
            <a:ext cx="5190374" cy="343170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indent="0">
              <a:buNone/>
            </a:pPr>
            <a:r>
              <a:rPr lang="en-US" sz="1400" b="1" noProof="0"/>
              <a:t>Company Overview</a:t>
            </a:r>
          </a:p>
          <a:p>
            <a:pPr marL="0" indent="0">
              <a:buNone/>
            </a:pPr>
            <a:endParaRPr lang="en-US" sz="1200" b="1" noProof="0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400" noProof="0">
                <a:ea typeface="+mn-lt"/>
                <a:cs typeface="+mn-lt"/>
              </a:rPr>
              <a:t>German mid-sized industrial manufacturer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400" noProof="0">
                <a:ea typeface="+mn-lt"/>
                <a:cs typeface="+mn-lt"/>
              </a:rPr>
              <a:t>Make-to-order with limited finished-goods buffers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400" noProof="0"/>
              <a:t>€210.1M total revenue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400" noProof="0">
                <a:ea typeface="+mn-lt"/>
                <a:cs typeface="+mn-lt"/>
              </a:rPr>
              <a:t>~19,953 sales orders</a:t>
            </a:r>
            <a:endParaRPr lang="en-US" sz="1400" noProof="0"/>
          </a:p>
          <a:p>
            <a:pPr>
              <a:lnSpc>
                <a:spcPct val="150000"/>
              </a:lnSpc>
            </a:pPr>
            <a:r>
              <a:rPr lang="en-US" sz="1400" noProof="0">
                <a:ea typeface="+mn-lt"/>
                <a:cs typeface="+mn-lt"/>
              </a:rPr>
              <a:t>Top customers generate a significant share of revenue.</a:t>
            </a:r>
            <a:endParaRPr lang="en-US" sz="1400" noProof="0"/>
          </a:p>
          <a:p>
            <a:pPr marL="285750" indent="-285750">
              <a:buFont typeface="Arial"/>
              <a:buChar char="•"/>
            </a:pPr>
            <a:r>
              <a:rPr lang="en-US" sz="1400" noProof="0"/>
              <a:t>Brand AG (€19.5M), Götz (€17.0M), Jürgens (€12.4M)</a:t>
            </a:r>
          </a:p>
          <a:p>
            <a:pPr>
              <a:lnSpc>
                <a:spcPct val="150000"/>
              </a:lnSpc>
            </a:pPr>
            <a:endParaRPr lang="en-US" sz="1400" noProof="0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endParaRPr lang="en-US" sz="1400" b="1" noProof="0"/>
          </a:p>
          <a:p>
            <a:pPr>
              <a:spcBef>
                <a:spcPct val="0"/>
              </a:spcBef>
              <a:spcAft>
                <a:spcPct val="0"/>
              </a:spcAft>
            </a:pPr>
            <a:endParaRPr lang="en-US" sz="1200" b="1" noProof="0"/>
          </a:p>
          <a:p>
            <a:endParaRPr lang="en-US" noProof="0"/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8E430387-FEC6-B54D-ECBE-FC55DAA83BF3}"/>
              </a:ext>
            </a:extLst>
          </p:cNvPr>
          <p:cNvSpPr txBox="1"/>
          <p:nvPr/>
        </p:nvSpPr>
        <p:spPr>
          <a:xfrm>
            <a:off x="6096000" y="5231560"/>
            <a:ext cx="4924682" cy="120032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buNone/>
            </a:pPr>
            <a:r>
              <a:rPr lang="en-US" sz="1600" b="1" noProof="0">
                <a:highlight>
                  <a:srgbClr val="5FB3A2"/>
                </a:highlight>
              </a:rPr>
              <a:t>Why This Matters</a:t>
            </a:r>
          </a:p>
          <a:p>
            <a:r>
              <a:rPr lang="en-US" sz="1400" noProof="0"/>
              <a:t>Structural characteristics of </a:t>
            </a:r>
            <a:r>
              <a:rPr lang="en-US" sz="1400" noProof="0" err="1"/>
              <a:t>Woodcorp’s</a:t>
            </a:r>
            <a:r>
              <a:rPr lang="en-US" sz="1400" noProof="0"/>
              <a:t> operating model systematically </a:t>
            </a:r>
            <a:r>
              <a:rPr lang="en-US" sz="1400" b="1" noProof="0"/>
              <a:t>amplify post-release deviations in the Order-to-Cash process</a:t>
            </a:r>
            <a:r>
              <a:rPr lang="en-US" sz="1400" noProof="0"/>
              <a:t>, directly impacting service reliability for key customers.</a:t>
            </a:r>
            <a:endParaRPr lang="en-US" sz="1600" noProof="0">
              <a:ea typeface="+mn-lt"/>
              <a:cs typeface="+mn-lt"/>
            </a:endParaRPr>
          </a:p>
        </p:txBody>
      </p:sp>
      <p:pic>
        <p:nvPicPr>
          <p:cNvPr id="4" name="Grafik 3" descr="Ein Bild, das Text, Screenshot, Design, Schrift enthält.&#10;&#10;KI-generierte Inhalte können fehlerhaft sein.">
            <a:extLst>
              <a:ext uri="{FF2B5EF4-FFF2-40B4-BE49-F238E27FC236}">
                <a16:creationId xmlns:a16="http://schemas.microsoft.com/office/drawing/2014/main" id="{06CCCD46-1285-6377-19A3-DB6D4AE200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3600" y="6244166"/>
            <a:ext cx="730250" cy="613834"/>
          </a:xfrm>
          <a:prstGeom prst="rect">
            <a:avLst/>
          </a:prstGeom>
        </p:spPr>
      </p:pic>
      <p:pic>
        <p:nvPicPr>
          <p:cNvPr id="17" name="Grafik 16" descr="Ein Bild, das Text, Screenshot, Design, Schrift enthält.&#10;&#10;KI-generierte Inhalte können fehlerhaft sein.">
            <a:extLst>
              <a:ext uri="{FF2B5EF4-FFF2-40B4-BE49-F238E27FC236}">
                <a16:creationId xmlns:a16="http://schemas.microsoft.com/office/drawing/2014/main" id="{55A00485-05C0-4471-3170-35B688118F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9300" y="3916671"/>
            <a:ext cx="1400527" cy="1206699"/>
          </a:xfrm>
          <a:prstGeom prst="rect">
            <a:avLst/>
          </a:prstGeom>
        </p:spPr>
      </p:pic>
      <p:graphicFrame>
        <p:nvGraphicFramePr>
          <p:cNvPr id="19" name="Tabelle 18">
            <a:extLst>
              <a:ext uri="{FF2B5EF4-FFF2-40B4-BE49-F238E27FC236}">
                <a16:creationId xmlns:a16="http://schemas.microsoft.com/office/drawing/2014/main" id="{EC1D000C-11BC-41BF-3F4B-4948B43439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9956215"/>
              </p:ext>
            </p:extLst>
          </p:nvPr>
        </p:nvGraphicFramePr>
        <p:xfrm>
          <a:off x="564000" y="4662000"/>
          <a:ext cx="5117484" cy="15544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79371">
                  <a:extLst>
                    <a:ext uri="{9D8B030D-6E8A-4147-A177-3AD203B41FA5}">
                      <a16:colId xmlns:a16="http://schemas.microsoft.com/office/drawing/2014/main" val="3279964011"/>
                    </a:ext>
                  </a:extLst>
                </a:gridCol>
                <a:gridCol w="1279371">
                  <a:extLst>
                    <a:ext uri="{9D8B030D-6E8A-4147-A177-3AD203B41FA5}">
                      <a16:colId xmlns:a16="http://schemas.microsoft.com/office/drawing/2014/main" val="3437490672"/>
                    </a:ext>
                  </a:extLst>
                </a:gridCol>
                <a:gridCol w="1279371">
                  <a:extLst>
                    <a:ext uri="{9D8B030D-6E8A-4147-A177-3AD203B41FA5}">
                      <a16:colId xmlns:a16="http://schemas.microsoft.com/office/drawing/2014/main" val="2831385677"/>
                    </a:ext>
                  </a:extLst>
                </a:gridCol>
                <a:gridCol w="1279371">
                  <a:extLst>
                    <a:ext uri="{9D8B030D-6E8A-4147-A177-3AD203B41FA5}">
                      <a16:colId xmlns:a16="http://schemas.microsoft.com/office/drawing/2014/main" val="2505263111"/>
                    </a:ext>
                  </a:extLst>
                </a:gridCol>
              </a:tblGrid>
              <a:tr h="364434">
                <a:tc>
                  <a:txBody>
                    <a:bodyPr/>
                    <a:lstStyle/>
                    <a:p>
                      <a:r>
                        <a:rPr lang="en-US" sz="1200" noProof="0"/>
                        <a:t>Product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noProof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noProof="0"/>
                        <a:t>Typical Use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noProof="0"/>
                        <a:t>Operational Characteristics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51817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noProof="0"/>
                        <a:t>Pallets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noProof="0"/>
                        <a:t>Standardized wooden pallets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noProof="0"/>
                        <a:t>Transport, storage, logistics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noProof="0"/>
                        <a:t>High volume, lower unit price, tolerance-sensitive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0984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noProof="0"/>
                        <a:t>Crates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noProof="0"/>
                        <a:t>Custom wooden crates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noProof="0"/>
                        <a:t>Industrial goods, heavy equipment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noProof="0"/>
                        <a:t>Make-to-order, higher variability, higher unit price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3768444"/>
                  </a:ext>
                </a:extLst>
              </a:tr>
            </a:tbl>
          </a:graphicData>
        </a:graphic>
      </p:graphicFrame>
      <p:sp>
        <p:nvSpPr>
          <p:cNvPr id="20" name="Textfeld 19">
            <a:extLst>
              <a:ext uri="{FF2B5EF4-FFF2-40B4-BE49-F238E27FC236}">
                <a16:creationId xmlns:a16="http://schemas.microsoft.com/office/drawing/2014/main" id="{D3F83F24-32FA-648B-3B9C-E4D4E34A1304}"/>
              </a:ext>
            </a:extLst>
          </p:cNvPr>
          <p:cNvSpPr txBox="1"/>
          <p:nvPr/>
        </p:nvSpPr>
        <p:spPr>
          <a:xfrm>
            <a:off x="492000" y="4275000"/>
            <a:ext cx="609600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 noProof="0">
                <a:solidFill>
                  <a:srgbClr val="202124"/>
                </a:solidFill>
                <a:latin typeface="IBM Plex Sans"/>
              </a:rPr>
              <a:t>Product Catalog</a:t>
            </a:r>
            <a:endParaRPr lang="en-US" noProof="0"/>
          </a:p>
          <a:p>
            <a:pPr algn="ctr"/>
            <a:endParaRPr lang="en-US" noProof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088B6B61-69A2-B3B1-CEF8-E9E6507DC2A7}"/>
              </a:ext>
            </a:extLst>
          </p:cNvPr>
          <p:cNvSpPr txBox="1"/>
          <p:nvPr/>
        </p:nvSpPr>
        <p:spPr>
          <a:xfrm>
            <a:off x="406402" y="1093662"/>
            <a:ext cx="101853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noProof="0"/>
              <a:t>Evidence from Order-to-Cash execution data (≈20k orders)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865CB745-A2E2-5B61-B34D-2541BB5EE1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GB" b="1"/>
              <a:t>| 1</a:t>
            </a:r>
          </a:p>
        </p:txBody>
      </p:sp>
    </p:spTree>
    <p:extLst>
      <p:ext uri="{BB962C8B-B14F-4D97-AF65-F5344CB8AC3E}">
        <p14:creationId xmlns:p14="http://schemas.microsoft.com/office/powerpoint/2010/main" val="2274049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54AEED-CD83-15B0-982A-066AD0203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noProof="0"/>
              <a:t>O2C Execution Deviations Undermine Planning Stability and Require Targeted Management Action</a:t>
            </a:r>
            <a:endParaRPr lang="en-US" b="1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624BBFB-3486-E1AB-6F29-8810272E43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1312" y="1712213"/>
            <a:ext cx="4913038" cy="483650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600" b="1" noProof="0"/>
              <a:t>Executive Objective </a:t>
            </a:r>
          </a:p>
          <a:p>
            <a:pPr marL="0" indent="0">
              <a:buNone/>
            </a:pPr>
            <a:r>
              <a:rPr lang="en-US" sz="1400" noProof="0"/>
              <a:t>The objective of this analysis is to support operational decision-making by: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noProof="0">
                <a:solidFill>
                  <a:schemeClr val="tx1"/>
                </a:solidFill>
              </a:rPr>
              <a:t>Creating transparency on </a:t>
            </a:r>
            <a:r>
              <a:rPr lang="en-US" sz="1400" b="1" noProof="0">
                <a:solidFill>
                  <a:schemeClr val="tx1"/>
                </a:solidFill>
              </a:rPr>
              <a:t>actual O2C execution behavior</a:t>
            </a:r>
            <a:endParaRPr lang="en-US" sz="1400" noProof="0">
              <a:solidFill>
                <a:schemeClr val="tx1"/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noProof="0">
                <a:solidFill>
                  <a:schemeClr val="tx1"/>
                </a:solidFill>
              </a:rPr>
              <a:t>Identifying </a:t>
            </a:r>
            <a:r>
              <a:rPr lang="en-US" sz="1400" b="1" noProof="0">
                <a:solidFill>
                  <a:schemeClr val="tx1"/>
                </a:solidFill>
              </a:rPr>
              <a:t>systematic execution gaps</a:t>
            </a:r>
            <a:r>
              <a:rPr lang="en-US" sz="1400" noProof="0">
                <a:solidFill>
                  <a:schemeClr val="tx1"/>
                </a:solidFill>
              </a:rPr>
              <a:t> with operational impact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noProof="0">
                <a:solidFill>
                  <a:schemeClr val="tx1"/>
                </a:solidFill>
              </a:rPr>
              <a:t>Translating insights into </a:t>
            </a:r>
            <a:r>
              <a:rPr lang="en-US" sz="1400" b="1" noProof="0">
                <a:solidFill>
                  <a:schemeClr val="tx1"/>
                </a:solidFill>
              </a:rPr>
              <a:t>prioritized management actions</a:t>
            </a:r>
            <a:endParaRPr lang="en-US" sz="1400" noProof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1400" noProof="0"/>
          </a:p>
          <a:p>
            <a:pPr marL="0" indent="0">
              <a:lnSpc>
                <a:spcPct val="100000"/>
              </a:lnSpc>
              <a:buNone/>
            </a:pPr>
            <a:r>
              <a:rPr lang="en-US" sz="1600" b="1" noProof="0"/>
              <a:t>Executive Focus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noProof="0">
                <a:solidFill>
                  <a:schemeClr val="tx1"/>
                </a:solidFill>
                <a:latin typeface="IBM Plex Sans"/>
                <a:cs typeface="Arial"/>
              </a:rPr>
              <a:t>Decision support for operations and process owners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noProof="0">
                <a:solidFill>
                  <a:schemeClr val="tx1"/>
                </a:solidFill>
                <a:latin typeface="IBM Plex Sans"/>
                <a:cs typeface="Arial"/>
              </a:rPr>
              <a:t>No tool demonstration or technical deep dive</a:t>
            </a:r>
          </a:p>
          <a:p>
            <a:pPr marL="0" indent="0">
              <a:buNone/>
            </a:pPr>
            <a:endParaRPr lang="en-US" sz="1400" b="1" noProof="0">
              <a:highlight>
                <a:srgbClr val="5FB3A2"/>
              </a:highlight>
            </a:endParaRPr>
          </a:p>
        </p:txBody>
      </p:sp>
      <p:pic>
        <p:nvPicPr>
          <p:cNvPr id="6" name="Grafik 5" descr="Ein Bild, das Text, Screenshot, Design, Schrift enthält.&#10;&#10;KI-generierte Inhalte können fehlerhaft sein.">
            <a:extLst>
              <a:ext uri="{FF2B5EF4-FFF2-40B4-BE49-F238E27FC236}">
                <a16:creationId xmlns:a16="http://schemas.microsoft.com/office/drawing/2014/main" id="{B39B039B-B2D4-4E5F-B2DE-EE74273D00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3600" y="6244166"/>
            <a:ext cx="730250" cy="613834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C5E631E7-FDC0-150F-BDF5-D0FA75D86A3B}"/>
              </a:ext>
            </a:extLst>
          </p:cNvPr>
          <p:cNvSpPr txBox="1"/>
          <p:nvPr/>
        </p:nvSpPr>
        <p:spPr>
          <a:xfrm>
            <a:off x="6161100" y="1762750"/>
            <a:ext cx="4771000" cy="295465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indent="0">
              <a:buNone/>
            </a:pPr>
            <a:r>
              <a:rPr lang="en-US" sz="1600" b="1" noProof="0">
                <a:highlight>
                  <a:srgbClr val="D8B35A"/>
                </a:highlight>
              </a:rPr>
              <a:t>Key Stakeholders</a:t>
            </a:r>
          </a:p>
          <a:p>
            <a:pPr marL="0" indent="0">
              <a:buNone/>
            </a:pPr>
            <a:endParaRPr lang="en-US" sz="1600" b="1" noProof="0"/>
          </a:p>
          <a:p>
            <a:r>
              <a:rPr lang="en-US" sz="1400" b="1" noProof="0"/>
              <a:t>Primary Audience</a:t>
            </a:r>
            <a:endParaRPr lang="en-US" sz="1400" noProof="0"/>
          </a:p>
          <a:p>
            <a:r>
              <a:rPr lang="en-US" sz="1400" b="1" noProof="0">
                <a:highlight>
                  <a:srgbClr val="D8B35A"/>
                </a:highlight>
              </a:rPr>
              <a:t>O2C Process Owner</a:t>
            </a:r>
            <a:r>
              <a:rPr lang="en-US" sz="1400" noProof="0">
                <a:highlight>
                  <a:srgbClr val="D8B35A"/>
                </a:highlight>
              </a:rPr>
              <a:t> </a:t>
            </a:r>
            <a:r>
              <a:rPr lang="en-US" sz="1400" noProof="0"/>
              <a:t>– end-to-end accountability for execution performance</a:t>
            </a:r>
          </a:p>
          <a:p>
            <a:endParaRPr lang="en-US" sz="1400" noProof="0"/>
          </a:p>
          <a:p>
            <a:r>
              <a:rPr lang="en-US" sz="1400" b="1" noProof="0"/>
              <a:t>Relevance for the O2C Process Owner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0"/>
              <a:t>End-to-end visibility into execution deviations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0"/>
              <a:t>Clear linkage between execution behavior and planning instability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0"/>
              <a:t>Fact-based foundation for targeted management action</a:t>
            </a:r>
          </a:p>
          <a:p>
            <a:pPr marL="0" indent="0">
              <a:buNone/>
            </a:pPr>
            <a:endParaRPr lang="en-US" sz="1400" b="1" noProof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D9D2387E-EDA6-CA29-EC87-9E1A18AA48FC}"/>
              </a:ext>
            </a:extLst>
          </p:cNvPr>
          <p:cNvSpPr txBox="1"/>
          <p:nvPr/>
        </p:nvSpPr>
        <p:spPr>
          <a:xfrm>
            <a:off x="6096000" y="4717405"/>
            <a:ext cx="4773415" cy="120032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buNone/>
            </a:pPr>
            <a:r>
              <a:rPr lang="en-US" sz="1600" b="1" noProof="0">
                <a:highlight>
                  <a:srgbClr val="5FB3A2"/>
                </a:highlight>
              </a:rPr>
              <a:t>Why This Matters</a:t>
            </a:r>
            <a:endParaRPr lang="en-US" sz="1200" noProof="0"/>
          </a:p>
          <a:p>
            <a:r>
              <a:rPr lang="en-US" sz="1400" noProof="0"/>
              <a:t>Without a fact-based understanding of execution behavior, </a:t>
            </a:r>
            <a:r>
              <a:rPr lang="en-US" sz="1400" b="1" noProof="0"/>
              <a:t>improvement initiatives risk addressing symptoms rather than root causes.</a:t>
            </a:r>
          </a:p>
          <a:p>
            <a:endParaRPr lang="en-US" sz="1400" noProof="0"/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A2991F2A-7A1E-5FE8-531F-DF82AF607A67}"/>
              </a:ext>
            </a:extLst>
          </p:cNvPr>
          <p:cNvSpPr/>
          <p:nvPr/>
        </p:nvSpPr>
        <p:spPr>
          <a:xfrm>
            <a:off x="5697132" y="1712212"/>
            <a:ext cx="48818" cy="4896197"/>
          </a:xfrm>
          <a:prstGeom prst="roundRect">
            <a:avLst/>
          </a:prstGeom>
          <a:solidFill>
            <a:srgbClr val="8FA3A1"/>
          </a:solidFill>
          <a:ln>
            <a:solidFill>
              <a:srgbClr val="8FA3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588D01D6-D79C-6783-2559-BF478878C757}"/>
              </a:ext>
            </a:extLst>
          </p:cNvPr>
          <p:cNvSpPr txBox="1"/>
          <p:nvPr/>
        </p:nvSpPr>
        <p:spPr>
          <a:xfrm>
            <a:off x="-50800" y="6551083"/>
            <a:ext cx="4749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b="1"/>
              <a:t>Enhancement Cycle Phase:</a:t>
            </a:r>
            <a:r>
              <a:rPr lang="en-GB" sz="800"/>
              <a:t> </a:t>
            </a:r>
            <a:r>
              <a:rPr lang="en-GB" sz="800" i="1"/>
              <a:t>Identify Execution Gaps</a:t>
            </a:r>
            <a:br>
              <a:rPr lang="en-GB" sz="800"/>
            </a:br>
            <a:r>
              <a:rPr lang="en-GB" sz="800" i="1"/>
              <a:t>(</a:t>
            </a:r>
            <a:r>
              <a:rPr lang="en-GB" sz="800"/>
              <a:t>Problem Context &amp; Objective Definition</a:t>
            </a:r>
            <a:r>
              <a:rPr lang="en-GB" sz="800" i="1"/>
              <a:t>)</a:t>
            </a:r>
            <a:endParaRPr lang="en-GB" sz="800" i="1">
              <a:solidFill>
                <a:srgbClr val="202124"/>
              </a:solidFill>
            </a:endParaRP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C6B85758-1D6D-ACE2-7C25-30982BEB63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GB" b="1"/>
              <a:t>| 2 </a:t>
            </a:r>
          </a:p>
        </p:txBody>
      </p:sp>
    </p:spTree>
    <p:extLst>
      <p:ext uri="{BB962C8B-B14F-4D97-AF65-F5344CB8AC3E}">
        <p14:creationId xmlns:p14="http://schemas.microsoft.com/office/powerpoint/2010/main" val="39882215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F8865E-DC1D-CC86-CFC6-C715B8351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noProof="0"/>
              <a:t>Operational Issue Requires Two Different Management Responses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607D0F0-0C4D-DE6F-FC9B-2369476F339E}"/>
              </a:ext>
            </a:extLst>
          </p:cNvPr>
          <p:cNvSpPr txBox="1"/>
          <p:nvPr/>
        </p:nvSpPr>
        <p:spPr>
          <a:xfrm>
            <a:off x="351311" y="1612116"/>
            <a:ext cx="5114846" cy="33547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buNone/>
            </a:pPr>
            <a:r>
              <a:rPr lang="en-US" sz="1600" b="1" noProof="0"/>
              <a:t>Observed Core Patterns</a:t>
            </a:r>
          </a:p>
          <a:p>
            <a:pPr>
              <a:buNone/>
            </a:pPr>
            <a:endParaRPr lang="en-US" sz="1200" b="1" noProof="0"/>
          </a:p>
          <a:p>
            <a:r>
              <a:rPr lang="en-US" sz="1200" noProof="0">
                <a:ea typeface="+mn-lt"/>
                <a:cs typeface="+mn-lt"/>
              </a:rPr>
              <a:t>Our analysis reveals </a:t>
            </a:r>
            <a:r>
              <a:rPr lang="en-US" sz="1200" b="1" noProof="0">
                <a:ea typeface="+mn-lt"/>
                <a:cs typeface="+mn-lt"/>
              </a:rPr>
              <a:t>systematic execution gaps in the O2C process</a:t>
            </a:r>
            <a:r>
              <a:rPr lang="en-US" sz="1200" noProof="0">
                <a:ea typeface="+mn-lt"/>
                <a:cs typeface="+mn-lt"/>
              </a:rPr>
              <a:t>.</a:t>
            </a:r>
            <a:br>
              <a:rPr lang="en-US" sz="1200" noProof="0">
                <a:ea typeface="+mn-lt"/>
                <a:cs typeface="+mn-lt"/>
              </a:rPr>
            </a:br>
            <a:r>
              <a:rPr lang="en-US" sz="1200" b="1" noProof="0">
                <a:ea typeface="+mn-lt"/>
                <a:cs typeface="+mn-lt"/>
              </a:rPr>
              <a:t>Operational Issues are not driven by a single root cause</a:t>
            </a:r>
            <a:r>
              <a:rPr lang="en-US" sz="1200" noProof="0">
                <a:ea typeface="+mn-lt"/>
                <a:cs typeface="+mn-lt"/>
              </a:rPr>
              <a:t>, but by </a:t>
            </a:r>
            <a:r>
              <a:rPr lang="en-US" sz="1200" b="1" noProof="0">
                <a:ea typeface="+mn-lt"/>
                <a:cs typeface="+mn-lt"/>
              </a:rPr>
              <a:t>distinct execution patterns</a:t>
            </a:r>
            <a:r>
              <a:rPr lang="en-US" sz="1200" noProof="0">
                <a:ea typeface="+mn-lt"/>
                <a:cs typeface="+mn-lt"/>
              </a:rPr>
              <a:t> with different operational and value impacts.</a:t>
            </a:r>
          </a:p>
          <a:p>
            <a:pPr>
              <a:buNone/>
            </a:pPr>
            <a:endParaRPr lang="en-US" sz="1200" noProof="0"/>
          </a:p>
          <a:p>
            <a:r>
              <a:rPr lang="en-US" sz="1400" b="1" noProof="0"/>
              <a:t>Key observations:</a:t>
            </a:r>
          </a:p>
          <a:p>
            <a:endParaRPr lang="en-US" sz="1400" b="1" noProof="0">
              <a:solidFill>
                <a:srgbClr val="FF0000"/>
              </a:solidFill>
              <a:ea typeface="+mn-lt"/>
              <a:cs typeface="+mn-lt"/>
            </a:endParaRPr>
          </a:p>
          <a:p>
            <a:pPr marL="171450" indent="-171450">
              <a:buFont typeface="Arial"/>
              <a:buChar char="•"/>
            </a:pPr>
            <a:r>
              <a:rPr lang="en-US" sz="1200" b="1" noProof="0">
                <a:ea typeface="+mn-lt"/>
                <a:cs typeface="+mn-lt"/>
              </a:rPr>
              <a:t>Quantity tolerance violations</a:t>
            </a:r>
            <a:r>
              <a:rPr lang="en-US" sz="1200" noProof="0">
                <a:ea typeface="+mn-lt"/>
                <a:cs typeface="+mn-lt"/>
              </a:rPr>
              <a:t> are associated with </a:t>
            </a:r>
            <a:r>
              <a:rPr lang="en-US" sz="1200" b="1" noProof="0">
                <a:ea typeface="+mn-lt"/>
                <a:cs typeface="+mn-lt"/>
              </a:rPr>
              <a:t>concentrated, high-severity cases</a:t>
            </a:r>
            <a:r>
              <a:rPr lang="en-US" sz="1200" noProof="0">
                <a:ea typeface="+mn-lt"/>
                <a:cs typeface="+mn-lt"/>
              </a:rPr>
              <a:t>, rather than broad lateness.</a:t>
            </a:r>
          </a:p>
          <a:p>
            <a:pPr marL="171450" indent="-171450">
              <a:buFont typeface="Arial"/>
              <a:buChar char="•"/>
            </a:pPr>
            <a:r>
              <a:rPr lang="en-US" sz="1200" noProof="0">
                <a:ea typeface="+mn-lt"/>
                <a:cs typeface="+mn-lt"/>
              </a:rPr>
              <a:t>A </a:t>
            </a:r>
            <a:r>
              <a:rPr lang="en-US" sz="1200" b="1" noProof="0">
                <a:ea typeface="+mn-lt"/>
                <a:cs typeface="+mn-lt"/>
              </a:rPr>
              <a:t>substantial share of late deliveries</a:t>
            </a:r>
            <a:r>
              <a:rPr lang="en-US" sz="1200" noProof="0">
                <a:ea typeface="+mn-lt"/>
                <a:cs typeface="+mn-lt"/>
              </a:rPr>
              <a:t> occurs at </a:t>
            </a:r>
            <a:r>
              <a:rPr lang="en-US" sz="1200" b="1" noProof="0">
                <a:ea typeface="+mn-lt"/>
                <a:cs typeface="+mn-lt"/>
              </a:rPr>
              <a:t>low or moderate quantity-violation rates</a:t>
            </a:r>
            <a:r>
              <a:rPr lang="en-US" sz="1200" noProof="0">
                <a:ea typeface="+mn-lt"/>
                <a:cs typeface="+mn-lt"/>
              </a:rPr>
              <a:t>.</a:t>
            </a:r>
            <a:endParaRPr lang="en-US" noProof="0">
              <a:ea typeface="+mn-lt"/>
              <a:cs typeface="+mn-lt"/>
            </a:endParaRPr>
          </a:p>
          <a:p>
            <a:pPr marL="171450" indent="-171450">
              <a:buFont typeface="Arial"/>
              <a:buChar char="•"/>
            </a:pPr>
            <a:r>
              <a:rPr lang="en-US" sz="1200" b="1" noProof="0">
                <a:ea typeface="+mn-lt"/>
                <a:cs typeface="+mn-lt"/>
              </a:rPr>
              <a:t>Value exposure is primarily driven by late deliveries without quantity violations</a:t>
            </a:r>
            <a:r>
              <a:rPr lang="en-US" sz="1200" noProof="0">
                <a:ea typeface="+mn-lt"/>
                <a:cs typeface="+mn-lt"/>
              </a:rPr>
              <a:t>.</a:t>
            </a:r>
            <a:endParaRPr lang="en-US" noProof="0">
              <a:ea typeface="+mn-lt"/>
              <a:cs typeface="+mn-l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noProof="0"/>
          </a:p>
          <a:p>
            <a:pPr>
              <a:buNone/>
            </a:pPr>
            <a:endParaRPr lang="en-US" sz="1200" b="1" noProof="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2790FA23-9D60-E3A0-E5C5-D02F616D9463}"/>
              </a:ext>
            </a:extLst>
          </p:cNvPr>
          <p:cNvSpPr txBox="1"/>
          <p:nvPr/>
        </p:nvSpPr>
        <p:spPr>
          <a:xfrm>
            <a:off x="371712" y="4855231"/>
            <a:ext cx="4691062" cy="215443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600" b="1" noProof="0">
                <a:solidFill>
                  <a:srgbClr val="202124"/>
                </a:solidFill>
                <a:highlight>
                  <a:srgbClr val="D8B35A"/>
                </a:highlight>
              </a:rPr>
              <a:t>Analytical Approach  </a:t>
            </a:r>
          </a:p>
          <a:p>
            <a:endParaRPr lang="en-US" sz="1400" b="1" noProof="0">
              <a:solidFill>
                <a:srgbClr val="202124"/>
              </a:solidFill>
              <a:highlight>
                <a:srgbClr val="D8B35A"/>
              </a:highlight>
            </a:endParaRPr>
          </a:p>
          <a:p>
            <a:r>
              <a:rPr lang="en-US" sz="1400" b="1" noProof="0"/>
              <a:t>Process Mining Enhancement Cycle</a:t>
            </a:r>
            <a:br>
              <a:rPr lang="en-GB" sz="1200"/>
            </a:br>
            <a:r>
              <a:rPr lang="en-GB" sz="1200"/>
              <a:t>The analysis follows the Enhancement Cycle to identify, quantify, and </a:t>
            </a:r>
            <a:r>
              <a:rPr lang="en-GB" sz="1200" err="1"/>
              <a:t>analyze</a:t>
            </a:r>
            <a:r>
              <a:rPr lang="en-GB" sz="1200"/>
              <a:t> execution gaps in the O2C process, derive differentiated improvement actions, and define KPIs for sustainable control and monitoring.</a:t>
            </a:r>
            <a:endParaRPr lang="en-US" sz="1200" b="1" noProof="0"/>
          </a:p>
          <a:p>
            <a:pPr marL="285750" indent="-285750">
              <a:buFont typeface="Arial"/>
              <a:buChar char="•"/>
            </a:pPr>
            <a:endParaRPr lang="en-US" sz="1200" noProof="0"/>
          </a:p>
          <a:p>
            <a:endParaRPr lang="en-US" sz="1400" noProof="0"/>
          </a:p>
          <a:p>
            <a:endParaRPr lang="en-US" sz="1400" noProof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988A59A4-01B5-4ACC-7E48-A713A91CFC3B}"/>
              </a:ext>
            </a:extLst>
          </p:cNvPr>
          <p:cNvSpPr txBox="1"/>
          <p:nvPr/>
        </p:nvSpPr>
        <p:spPr>
          <a:xfrm>
            <a:off x="5335950" y="5659112"/>
            <a:ext cx="5037415" cy="98488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buNone/>
            </a:pPr>
            <a:r>
              <a:rPr lang="en-US" sz="1600" b="1" noProof="0">
                <a:highlight>
                  <a:srgbClr val="5FB3A2"/>
                </a:highlight>
              </a:rPr>
              <a:t>Why This Matters</a:t>
            </a:r>
          </a:p>
          <a:p>
            <a:r>
              <a:rPr lang="en-US" sz="1400" noProof="0">
                <a:ea typeface="+mn-lt"/>
                <a:cs typeface="+mn-lt"/>
              </a:rPr>
              <a:t>These patterns imply that improving O2C performance requires differentiated, problem-specific management actions rather than broad process changes.</a:t>
            </a:r>
            <a:endParaRPr lang="en-US" noProof="0"/>
          </a:p>
        </p:txBody>
      </p:sp>
      <p:pic>
        <p:nvPicPr>
          <p:cNvPr id="10" name="Grafik 9" descr="Ein Bild, das Text, Screenshot, Design, Schrift enthält.&#10;&#10;KI-generierte Inhalte können fehlerhaft sein.">
            <a:extLst>
              <a:ext uri="{FF2B5EF4-FFF2-40B4-BE49-F238E27FC236}">
                <a16:creationId xmlns:a16="http://schemas.microsoft.com/office/drawing/2014/main" id="{82691C8D-1143-AECE-5A59-0524E6078F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3600" y="6244166"/>
            <a:ext cx="730250" cy="613834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81A6561F-4DE6-9BD0-B51D-F4D8514E1761}"/>
              </a:ext>
            </a:extLst>
          </p:cNvPr>
          <p:cNvSpPr txBox="1"/>
          <p:nvPr/>
        </p:nvSpPr>
        <p:spPr>
          <a:xfrm>
            <a:off x="5387891" y="4777183"/>
            <a:ext cx="6101482" cy="75405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b="1" noProof="0">
                <a:solidFill>
                  <a:srgbClr val="1F4E4A"/>
                </a:solidFill>
              </a:rPr>
              <a:t>How to read:</a:t>
            </a:r>
            <a:r>
              <a:rPr lang="en-US" sz="1200" noProof="0">
                <a:solidFill>
                  <a:srgbClr val="1F4E4A"/>
                </a:solidFill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100" noProof="0">
                <a:solidFill>
                  <a:srgbClr val="1F4E4A"/>
                </a:solidFill>
              </a:rPr>
              <a:t>The chart plots </a:t>
            </a:r>
            <a:r>
              <a:rPr lang="en-US" sz="1100" b="1" noProof="0">
                <a:solidFill>
                  <a:srgbClr val="1F4E4A"/>
                </a:solidFill>
              </a:rPr>
              <a:t>quantity tolerance deviations (x-axis)</a:t>
            </a:r>
            <a:r>
              <a:rPr lang="en-US" sz="1100" noProof="0">
                <a:solidFill>
                  <a:srgbClr val="1F4E4A"/>
                </a:solidFill>
              </a:rPr>
              <a:t> against </a:t>
            </a:r>
            <a:r>
              <a:rPr lang="en-US" sz="1100" b="1" noProof="0">
                <a:solidFill>
                  <a:srgbClr val="1F4E4A"/>
                </a:solidFill>
              </a:rPr>
              <a:t>delivery lateness (y-axis)</a:t>
            </a:r>
            <a:r>
              <a:rPr lang="en-US" sz="1100" noProof="0">
                <a:solidFill>
                  <a:srgbClr val="1F4E4A"/>
                </a:solidFill>
              </a:rPr>
              <a:t>.</a:t>
            </a:r>
            <a:br>
              <a:rPr lang="en-US" sz="1000" noProof="0"/>
            </a:br>
            <a:r>
              <a:rPr lang="en-US" sz="1000" noProof="0">
                <a:solidFill>
                  <a:srgbClr val="8FA3A1"/>
                </a:solidFill>
              </a:rPr>
              <a:t>It distinguishes </a:t>
            </a:r>
            <a:r>
              <a:rPr lang="en-US" sz="1000" b="1" noProof="0">
                <a:solidFill>
                  <a:srgbClr val="8FA3A1"/>
                </a:solidFill>
              </a:rPr>
              <a:t>systemic lateness issues</a:t>
            </a:r>
            <a:r>
              <a:rPr lang="en-US" sz="1000" noProof="0">
                <a:solidFill>
                  <a:srgbClr val="8FA3A1"/>
                </a:solidFill>
              </a:rPr>
              <a:t> from </a:t>
            </a:r>
            <a:r>
              <a:rPr lang="en-US" sz="1000" b="1" noProof="0">
                <a:solidFill>
                  <a:srgbClr val="8FA3A1"/>
                </a:solidFill>
              </a:rPr>
              <a:t>concentrated, high-severity quantity violations</a:t>
            </a:r>
            <a:r>
              <a:rPr lang="en-US" sz="1000" noProof="0">
                <a:solidFill>
                  <a:srgbClr val="8FA3A1"/>
                </a:solidFill>
              </a:rPr>
              <a:t>, indicating that different deviation patterns require </a:t>
            </a:r>
            <a:r>
              <a:rPr lang="en-US" sz="1000" b="1" noProof="0">
                <a:solidFill>
                  <a:srgbClr val="8FA3A1"/>
                </a:solidFill>
              </a:rPr>
              <a:t>different management responses</a:t>
            </a:r>
            <a:r>
              <a:rPr lang="en-US" sz="1000" noProof="0">
                <a:solidFill>
                  <a:srgbClr val="8FA3A1"/>
                </a:solidFill>
              </a:rPr>
              <a:t>.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B758F7E0-F900-D361-1F43-9816E6FB22F0}"/>
              </a:ext>
            </a:extLst>
          </p:cNvPr>
          <p:cNvSpPr txBox="1"/>
          <p:nvPr/>
        </p:nvSpPr>
        <p:spPr>
          <a:xfrm>
            <a:off x="-50800" y="6551083"/>
            <a:ext cx="47498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b="1"/>
              <a:t>Enhancement Cycle Phase:</a:t>
            </a:r>
            <a:r>
              <a:rPr lang="en-GB" sz="800"/>
              <a:t> </a:t>
            </a:r>
            <a:r>
              <a:rPr lang="en-GB" sz="800" i="1"/>
              <a:t>Identify Execution Gaps</a:t>
            </a:r>
            <a:endParaRPr lang="en-GB" sz="800" i="1">
              <a:solidFill>
                <a:srgbClr val="202124"/>
              </a:solidFill>
            </a:endParaRPr>
          </a:p>
        </p:txBody>
      </p:sp>
      <p:pic>
        <p:nvPicPr>
          <p:cNvPr id="9" name="Grafik 8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DE5F2FEA-E37A-4294-3E4E-CAC175A6E0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6157" y="1416133"/>
            <a:ext cx="5868669" cy="3274410"/>
          </a:xfrm>
          <a:prstGeom prst="rect">
            <a:avLst/>
          </a:prstGeom>
        </p:spPr>
      </p:pic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5CB1139E-9A8D-3776-4A9A-BD3E84CB23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GB" b="1"/>
              <a:t>| 3 </a:t>
            </a:r>
          </a:p>
        </p:txBody>
      </p:sp>
    </p:spTree>
    <p:extLst>
      <p:ext uri="{BB962C8B-B14F-4D97-AF65-F5344CB8AC3E}">
        <p14:creationId xmlns:p14="http://schemas.microsoft.com/office/powerpoint/2010/main" val="1371230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E2219-E0B8-8D56-2950-DE2DAA7F3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fik 17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B831725C-E20C-74F3-BB3F-E17F39AAC1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6712" y="1825615"/>
            <a:ext cx="1577450" cy="4326318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4C628AF3-DD6D-2538-03F1-FC5BD0F41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noProof="0"/>
              <a:t>Execution Deviations After Order Release Drive ~4 Days of Delay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C875514E-6B99-9135-92E2-CEF4DAF143B1}"/>
              </a:ext>
            </a:extLst>
          </p:cNvPr>
          <p:cNvSpPr txBox="1"/>
          <p:nvPr/>
        </p:nvSpPr>
        <p:spPr>
          <a:xfrm>
            <a:off x="351311" y="1713539"/>
            <a:ext cx="4698226" cy="230832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b="1" noProof="0">
                <a:highlight>
                  <a:srgbClr val="D8B35A"/>
                </a:highlight>
              </a:rPr>
              <a:t>Happy Path – Analytical Reference</a:t>
            </a:r>
          </a:p>
          <a:p>
            <a:endParaRPr lang="en-US" noProof="0">
              <a:solidFill>
                <a:srgbClr val="202124"/>
              </a:solidFill>
              <a:ea typeface="+mn-lt"/>
              <a:cs typeface="+mn-lt"/>
            </a:endParaRPr>
          </a:p>
          <a:p>
            <a:r>
              <a:rPr lang="en-US" sz="1200" noProof="0"/>
              <a:t>The Happy Path represents the </a:t>
            </a:r>
            <a:r>
              <a:rPr lang="en-US" sz="1200" b="1" noProof="0"/>
              <a:t>intended best-case execution flow</a:t>
            </a:r>
            <a:r>
              <a:rPr lang="en-US" sz="1200" noProof="0"/>
              <a:t> of the Order-to-Cash (O2C) process </a:t>
            </a:r>
            <a:r>
              <a:rPr lang="en-US" sz="1200" b="1" noProof="0"/>
              <a:t>without rework or change loops</a:t>
            </a:r>
            <a:r>
              <a:rPr lang="en-US" sz="1200" noProof="0"/>
              <a:t>.</a:t>
            </a:r>
          </a:p>
          <a:p>
            <a:endParaRPr lang="en-US" sz="1200" noProof="0"/>
          </a:p>
          <a:p>
            <a:r>
              <a:rPr lang="en-US" sz="1200" noProof="0"/>
              <a:t>It is used </a:t>
            </a:r>
            <a:r>
              <a:rPr lang="en-US" sz="1200" b="1" noProof="0"/>
              <a:t>exclusively as an analytical baseline</a:t>
            </a:r>
            <a:r>
              <a:rPr lang="en-US" sz="1200" noProof="0"/>
              <a:t> to </a:t>
            </a:r>
            <a:r>
              <a:rPr lang="en-US" sz="1200" b="1" noProof="0"/>
              <a:t>identify, compare, and quantify execution deviations</a:t>
            </a:r>
            <a:r>
              <a:rPr lang="en-US" sz="1200" noProof="0"/>
              <a:t> and to </a:t>
            </a:r>
            <a:r>
              <a:rPr lang="en-US" sz="1200" b="1" noProof="0"/>
              <a:t>derive targeted improvement actions</a:t>
            </a:r>
            <a:r>
              <a:rPr lang="en-US" sz="1200" noProof="0"/>
              <a:t>.</a:t>
            </a:r>
          </a:p>
          <a:p>
            <a:endParaRPr lang="en-US" sz="1200" noProof="0">
              <a:solidFill>
                <a:srgbClr val="202124"/>
              </a:solidFill>
              <a:ea typeface="+mn-lt"/>
              <a:cs typeface="+mn-lt"/>
            </a:endParaRPr>
          </a:p>
          <a:p>
            <a:endParaRPr lang="en-US" sz="1200" noProof="0">
              <a:solidFill>
                <a:srgbClr val="202124"/>
              </a:solidFill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F47DD01C-717F-A7AB-C2E6-3696AE656AAC}"/>
              </a:ext>
            </a:extLst>
          </p:cNvPr>
          <p:cNvSpPr txBox="1"/>
          <p:nvPr/>
        </p:nvSpPr>
        <p:spPr>
          <a:xfrm>
            <a:off x="351311" y="4590463"/>
            <a:ext cx="469822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noProof="0">
                <a:highlight>
                  <a:srgbClr val="5FB3A2"/>
                </a:highlight>
              </a:rPr>
              <a:t>Why This Matters</a:t>
            </a:r>
          </a:p>
          <a:p>
            <a:pPr>
              <a:buNone/>
            </a:pPr>
            <a:r>
              <a:rPr lang="en-US" sz="1400" noProof="0"/>
              <a:t>Orders following the exact Happy Path are ~4 days faster, showing that delays are </a:t>
            </a:r>
            <a:r>
              <a:rPr lang="en-US" sz="1400" b="1" noProof="0"/>
              <a:t>primarily associated with post-release deviations from the Happy Path.</a:t>
            </a:r>
            <a:endParaRPr lang="en-US" sz="1400" noProof="0">
              <a:solidFill>
                <a:srgbClr val="202124"/>
              </a:solidFill>
            </a:endParaRPr>
          </a:p>
        </p:txBody>
      </p:sp>
      <p:pic>
        <p:nvPicPr>
          <p:cNvPr id="3" name="Grafik 2" descr="Ein Bild, das Text, Screenshot, Design, Schrift enthält.&#10;&#10;KI-generierte Inhalte können fehlerhaft sein.">
            <a:extLst>
              <a:ext uri="{FF2B5EF4-FFF2-40B4-BE49-F238E27FC236}">
                <a16:creationId xmlns:a16="http://schemas.microsoft.com/office/drawing/2014/main" id="{2F5A81D8-CC2A-CF13-7CAF-10683C8B0F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3600" y="6244166"/>
            <a:ext cx="730250" cy="613834"/>
          </a:xfrm>
          <a:prstGeom prst="rect">
            <a:avLst/>
          </a:prstGeom>
        </p:spPr>
      </p:pic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54399A39-A32F-B606-91E1-EE3106A1BEBA}"/>
              </a:ext>
            </a:extLst>
          </p:cNvPr>
          <p:cNvSpPr/>
          <p:nvPr/>
        </p:nvSpPr>
        <p:spPr>
          <a:xfrm>
            <a:off x="5186681" y="1825615"/>
            <a:ext cx="45719" cy="4326319"/>
          </a:xfrm>
          <a:prstGeom prst="roundRect">
            <a:avLst/>
          </a:prstGeom>
          <a:solidFill>
            <a:srgbClr val="8FA3A1"/>
          </a:solidFill>
          <a:ln>
            <a:solidFill>
              <a:srgbClr val="8FA3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C10FE073-159A-522D-BED9-49476259D430}"/>
              </a:ext>
            </a:extLst>
          </p:cNvPr>
          <p:cNvSpPr txBox="1"/>
          <p:nvPr/>
        </p:nvSpPr>
        <p:spPr>
          <a:xfrm>
            <a:off x="7236430" y="1713539"/>
            <a:ext cx="426024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noProof="0">
                <a:solidFill>
                  <a:srgbClr val="202124"/>
                </a:solidFill>
                <a:ea typeface="+mn-lt"/>
                <a:cs typeface="+mn-lt"/>
              </a:rPr>
              <a:t>Happy Path </a:t>
            </a:r>
          </a:p>
          <a:p>
            <a:r>
              <a:rPr lang="en-US" sz="1200" i="1" noProof="0">
                <a:solidFill>
                  <a:srgbClr val="202124"/>
                </a:solidFill>
                <a:ea typeface="+mn-lt"/>
                <a:cs typeface="+mn-lt"/>
              </a:rPr>
              <a:t>(based on internal business sorting logic):</a:t>
            </a:r>
          </a:p>
          <a:p>
            <a:endParaRPr lang="en-US" sz="1400" noProof="0">
              <a:solidFill>
                <a:srgbClr val="202124"/>
              </a:solidFill>
            </a:endParaRPr>
          </a:p>
          <a:p>
            <a:pPr marL="228600" indent="-228600">
              <a:buAutoNum type="arabicPeriod"/>
            </a:pPr>
            <a:r>
              <a:rPr lang="en-US" sz="1200" noProof="0">
                <a:solidFill>
                  <a:srgbClr val="202124"/>
                </a:solidFill>
                <a:ea typeface="+mn-lt"/>
                <a:cs typeface="+mn-lt"/>
              </a:rPr>
              <a:t>  Order received</a:t>
            </a:r>
            <a:endParaRPr lang="en-US" sz="1200" noProof="0">
              <a:solidFill>
                <a:srgbClr val="202124"/>
              </a:solidFill>
            </a:endParaRPr>
          </a:p>
          <a:p>
            <a:pPr marL="285750" indent="-285750">
              <a:buAutoNum type="arabicPeriod"/>
            </a:pPr>
            <a:r>
              <a:rPr lang="en-US" sz="1200" noProof="0">
                <a:solidFill>
                  <a:srgbClr val="202124"/>
                </a:solidFill>
                <a:ea typeface="+mn-lt"/>
                <a:cs typeface="+mn-lt"/>
              </a:rPr>
              <a:t>Check credit score</a:t>
            </a:r>
            <a:endParaRPr lang="en-US" sz="1200" noProof="0">
              <a:solidFill>
                <a:srgbClr val="202124"/>
              </a:solidFill>
            </a:endParaRPr>
          </a:p>
          <a:p>
            <a:pPr marL="285750" indent="-285750">
              <a:buAutoNum type="arabicPeriod"/>
            </a:pPr>
            <a:r>
              <a:rPr lang="en-US" sz="1200" noProof="0">
                <a:solidFill>
                  <a:srgbClr val="202124"/>
                </a:solidFill>
                <a:ea typeface="+mn-lt"/>
                <a:cs typeface="+mn-lt"/>
              </a:rPr>
              <a:t>Confirm sale</a:t>
            </a:r>
            <a:endParaRPr lang="en-US" sz="1200" noProof="0">
              <a:solidFill>
                <a:srgbClr val="202124"/>
              </a:solidFill>
            </a:endParaRPr>
          </a:p>
          <a:p>
            <a:pPr marL="285750" indent="-285750">
              <a:buAutoNum type="arabicPeriod"/>
            </a:pPr>
            <a:r>
              <a:rPr lang="en-US" sz="1200" noProof="0">
                <a:solidFill>
                  <a:srgbClr val="202124"/>
                </a:solidFill>
                <a:ea typeface="+mn-lt"/>
                <a:cs typeface="+mn-lt"/>
              </a:rPr>
              <a:t>Start production</a:t>
            </a:r>
            <a:endParaRPr lang="en-US" sz="1200" i="1" noProof="0">
              <a:solidFill>
                <a:srgbClr val="202124"/>
              </a:solidFill>
            </a:endParaRPr>
          </a:p>
          <a:p>
            <a:pPr marL="285750" indent="-285750">
              <a:buAutoNum type="arabicPeriod"/>
            </a:pPr>
            <a:r>
              <a:rPr lang="en-US" sz="1200" noProof="0">
                <a:solidFill>
                  <a:srgbClr val="202124"/>
                </a:solidFill>
                <a:ea typeface="+mn-lt"/>
                <a:cs typeface="+mn-lt"/>
              </a:rPr>
              <a:t>Finished production</a:t>
            </a:r>
            <a:endParaRPr lang="en-US" sz="1200" noProof="0">
              <a:solidFill>
                <a:srgbClr val="202124"/>
              </a:solidFill>
            </a:endParaRPr>
          </a:p>
          <a:p>
            <a:pPr marL="285750" indent="-285750">
              <a:buAutoNum type="arabicPeriod"/>
            </a:pPr>
            <a:r>
              <a:rPr lang="en-US" sz="1200" noProof="0">
                <a:solidFill>
                  <a:srgbClr val="202124"/>
                </a:solidFill>
                <a:ea typeface="+mn-lt"/>
                <a:cs typeface="+mn-lt"/>
              </a:rPr>
              <a:t>Load shipment</a:t>
            </a:r>
            <a:endParaRPr lang="en-US" sz="1200" noProof="0">
              <a:solidFill>
                <a:srgbClr val="202124"/>
              </a:solidFill>
            </a:endParaRPr>
          </a:p>
          <a:p>
            <a:pPr marL="285750" indent="-285750">
              <a:buAutoNum type="arabicPeriod"/>
            </a:pPr>
            <a:r>
              <a:rPr lang="en-US" sz="1200" noProof="0">
                <a:solidFill>
                  <a:srgbClr val="202124"/>
                </a:solidFill>
                <a:ea typeface="+mn-lt"/>
                <a:cs typeface="+mn-lt"/>
              </a:rPr>
              <a:t>Goods delivered</a:t>
            </a:r>
            <a:endParaRPr lang="en-US" sz="1200" noProof="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78F1D572-D3F8-8660-C43D-D8A1162D9EAB}"/>
              </a:ext>
            </a:extLst>
          </p:cNvPr>
          <p:cNvSpPr txBox="1"/>
          <p:nvPr/>
        </p:nvSpPr>
        <p:spPr>
          <a:xfrm>
            <a:off x="7242780" y="3751214"/>
            <a:ext cx="4260244" cy="3049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ts val="1875"/>
              </a:lnSpc>
            </a:pPr>
            <a:r>
              <a:rPr lang="en-US" sz="1400" b="1" baseline="0" noProof="0">
                <a:solidFill>
                  <a:srgbClr val="202124"/>
                </a:solidFill>
                <a:latin typeface="IBM Plex Sans"/>
                <a:ea typeface="Segoe UI"/>
                <a:cs typeface="Segoe UI"/>
              </a:rPr>
              <a:t>Quantitative reference:</a:t>
            </a:r>
            <a:r>
              <a:rPr lang="en-US" sz="1400" noProof="0">
                <a:solidFill>
                  <a:srgbClr val="202124"/>
                </a:solidFill>
                <a:latin typeface="IBM Plex Sans"/>
                <a:ea typeface="Segoe UI"/>
                <a:cs typeface="Segoe UI"/>
              </a:rPr>
              <a:t>​</a:t>
            </a:r>
          </a:p>
          <a:p>
            <a:pPr marL="285750" lvl="0" indent="-285750" rtl="0">
              <a:lnSpc>
                <a:spcPts val="1875"/>
              </a:lnSpc>
              <a:buFont typeface="Arial" panose="020B0604020202020204" pitchFamily="34" charset="0"/>
              <a:buChar char="•"/>
            </a:pPr>
            <a:r>
              <a:rPr lang="en-US" sz="1200" baseline="0" noProof="0">
                <a:solidFill>
                  <a:srgbClr val="202124"/>
                </a:solidFill>
                <a:latin typeface="IBM Plex Sans"/>
                <a:ea typeface="Arial"/>
                <a:cs typeface="Arial"/>
              </a:rPr>
              <a:t>All orders contain these core activities</a:t>
            </a:r>
            <a:r>
              <a:rPr lang="en-US" sz="1200" noProof="0">
                <a:solidFill>
                  <a:srgbClr val="202124"/>
                </a:solidFill>
                <a:latin typeface="IBM Plex Sans"/>
                <a:ea typeface="Arial"/>
                <a:cs typeface="Arial"/>
              </a:rPr>
              <a:t>​</a:t>
            </a:r>
          </a:p>
          <a:p>
            <a:pPr marL="285750" lvl="0" indent="-285750">
              <a:lnSpc>
                <a:spcPts val="1875"/>
              </a:lnSpc>
              <a:buFont typeface="Arial" panose="020B0604020202020204" pitchFamily="34" charset="0"/>
              <a:buChar char="•"/>
            </a:pPr>
            <a:r>
              <a:rPr lang="en-US" sz="1200" noProof="0"/>
              <a:t>Typical Order process variations (top 30) with post-release deviations:</a:t>
            </a:r>
            <a:br>
              <a:rPr lang="en-US" sz="1200" noProof="0">
                <a:latin typeface="IBM Plex Sans"/>
                <a:ea typeface="Arial"/>
                <a:cs typeface="Arial"/>
              </a:rPr>
            </a:br>
            <a:r>
              <a:rPr lang="en-US" sz="1200" b="1" i="1" baseline="0" noProof="0">
                <a:solidFill>
                  <a:srgbClr val="202124"/>
                </a:solidFill>
                <a:latin typeface="IBM Plex Sans"/>
                <a:ea typeface="Arial"/>
                <a:cs typeface="Arial"/>
              </a:rPr>
              <a:t>→ Median throughput time: </a:t>
            </a:r>
            <a:r>
              <a:rPr lang="en-US" sz="1200" b="1" i="1" noProof="0">
                <a:solidFill>
                  <a:srgbClr val="202124"/>
                </a:solidFill>
                <a:latin typeface="IBM Plex Sans"/>
                <a:ea typeface="Arial"/>
                <a:cs typeface="Arial"/>
              </a:rPr>
              <a:t>45.6</a:t>
            </a:r>
            <a:r>
              <a:rPr lang="en-US" sz="1200" b="1" i="1" baseline="0" noProof="0">
                <a:solidFill>
                  <a:srgbClr val="202124"/>
                </a:solidFill>
                <a:latin typeface="IBM Plex Sans"/>
                <a:ea typeface="Arial"/>
                <a:cs typeface="Arial"/>
              </a:rPr>
              <a:t> days</a:t>
            </a:r>
            <a:r>
              <a:rPr lang="en-US" sz="1200" b="1" noProof="0">
                <a:solidFill>
                  <a:srgbClr val="202124"/>
                </a:solidFill>
                <a:latin typeface="IBM Plex Sans"/>
                <a:ea typeface="Arial"/>
                <a:cs typeface="Arial"/>
              </a:rPr>
              <a:t>​</a:t>
            </a:r>
          </a:p>
          <a:p>
            <a:pPr marL="285750" lvl="0" indent="-285750" rtl="0">
              <a:lnSpc>
                <a:spcPts val="1875"/>
              </a:lnSpc>
              <a:buFont typeface="Arial" panose="020B0604020202020204" pitchFamily="34" charset="0"/>
              <a:buChar char="•"/>
            </a:pPr>
            <a:r>
              <a:rPr lang="en-US" sz="1200" baseline="0" noProof="0">
                <a:solidFill>
                  <a:srgbClr val="202124"/>
                </a:solidFill>
                <a:latin typeface="IBM Plex Sans"/>
                <a:ea typeface="Arial"/>
                <a:cs typeface="Arial"/>
              </a:rPr>
              <a:t>Orders that follow the exact Happy Path</a:t>
            </a:r>
            <a:r>
              <a:rPr lang="en-US" sz="1200" noProof="0">
                <a:solidFill>
                  <a:srgbClr val="202124"/>
                </a:solidFill>
                <a:latin typeface="IBM Plex Sans"/>
                <a:ea typeface="Arial"/>
                <a:cs typeface="Arial"/>
              </a:rPr>
              <a:t>​:</a:t>
            </a:r>
            <a:br>
              <a:rPr lang="en-US" sz="1200" noProof="0">
                <a:latin typeface="IBM Plex Sans"/>
                <a:ea typeface="Arial"/>
                <a:cs typeface="Arial"/>
              </a:rPr>
            </a:br>
            <a:r>
              <a:rPr lang="en-US" sz="1200" b="1" baseline="0" noProof="0">
                <a:solidFill>
                  <a:srgbClr val="202124"/>
                </a:solidFill>
                <a:latin typeface="IBM Plex Sans"/>
                <a:ea typeface="Arial"/>
                <a:cs typeface="Arial"/>
              </a:rPr>
              <a:t>→ Median throughput time: </a:t>
            </a:r>
            <a:r>
              <a:rPr lang="en-US" sz="1200" b="1" noProof="0">
                <a:solidFill>
                  <a:srgbClr val="202124"/>
                </a:solidFill>
                <a:latin typeface="IBM Plex Sans"/>
                <a:ea typeface="Arial"/>
                <a:cs typeface="Arial"/>
              </a:rPr>
              <a:t>41.5</a:t>
            </a:r>
            <a:r>
              <a:rPr lang="en-US" sz="1200" b="1" baseline="0" noProof="0">
                <a:solidFill>
                  <a:srgbClr val="202124"/>
                </a:solidFill>
                <a:latin typeface="IBM Plex Sans"/>
                <a:ea typeface="Arial"/>
                <a:cs typeface="Arial"/>
              </a:rPr>
              <a:t> days</a:t>
            </a:r>
            <a:r>
              <a:rPr lang="en-US" sz="1200" b="1" noProof="0">
                <a:solidFill>
                  <a:srgbClr val="202124"/>
                </a:solidFill>
                <a:latin typeface="IBM Plex Sans"/>
                <a:ea typeface="Arial"/>
                <a:cs typeface="Arial"/>
              </a:rPr>
              <a:t>​</a:t>
            </a:r>
          </a:p>
          <a:p>
            <a:pPr marL="285750" lvl="0" indent="-285750" rtl="0">
              <a:lnSpc>
                <a:spcPts val="1875"/>
              </a:lnSpc>
              <a:buFont typeface="Arial" panose="020B0604020202020204" pitchFamily="34" charset="0"/>
              <a:buChar char="•"/>
            </a:pPr>
            <a:endParaRPr lang="en-US" sz="1200" b="1" noProof="0">
              <a:solidFill>
                <a:srgbClr val="8FA3A1"/>
              </a:solidFill>
              <a:latin typeface="IBM Plex Sans"/>
              <a:ea typeface="Arial"/>
              <a:cs typeface="Arial"/>
            </a:endParaRPr>
          </a:p>
          <a:p>
            <a:pPr>
              <a:lnSpc>
                <a:spcPts val="1875"/>
              </a:lnSpc>
            </a:pPr>
            <a:r>
              <a:rPr lang="en-US" sz="1000" noProof="0">
                <a:solidFill>
                  <a:srgbClr val="8FA3A1"/>
                </a:solidFill>
              </a:rPr>
              <a:t>The Happy Path is intentionally rare and serves as a performance benchmark, not as a realistic target state.</a:t>
            </a:r>
          </a:p>
          <a:p>
            <a:pPr>
              <a:lnSpc>
                <a:spcPts val="1875"/>
              </a:lnSpc>
            </a:pPr>
            <a:r>
              <a:rPr lang="en-US" sz="1000" i="1" noProof="0">
                <a:solidFill>
                  <a:srgbClr val="8FA3A1"/>
                </a:solidFill>
              </a:rPr>
              <a:t>Share of orders following exact Happy Path: &lt;1%</a:t>
            </a:r>
            <a:endParaRPr lang="en-US" sz="1000" i="1" noProof="0">
              <a:solidFill>
                <a:srgbClr val="8FA3A1"/>
              </a:solidFill>
              <a:latin typeface="IBM Plex Sans"/>
              <a:ea typeface="Segoe UI"/>
              <a:cs typeface="Segoe UI"/>
            </a:endParaRPr>
          </a:p>
          <a:p>
            <a:pPr algn="ctr"/>
            <a:endParaRPr lang="en-US" noProof="0"/>
          </a:p>
        </p:txBody>
      </p: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E6C1AC0D-FD25-2EB0-B65C-216366C5AB8C}"/>
              </a:ext>
            </a:extLst>
          </p:cNvPr>
          <p:cNvCxnSpPr>
            <a:cxnSpLocks/>
          </p:cNvCxnSpPr>
          <p:nvPr/>
        </p:nvCxnSpPr>
        <p:spPr>
          <a:xfrm>
            <a:off x="5708205" y="2546350"/>
            <a:ext cx="7296" cy="28829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feld 16">
            <a:extLst>
              <a:ext uri="{FF2B5EF4-FFF2-40B4-BE49-F238E27FC236}">
                <a16:creationId xmlns:a16="http://schemas.microsoft.com/office/drawing/2014/main" id="{10C0E15E-CAAB-C4A6-925E-250739D6B913}"/>
              </a:ext>
            </a:extLst>
          </p:cNvPr>
          <p:cNvSpPr txBox="1"/>
          <p:nvPr/>
        </p:nvSpPr>
        <p:spPr>
          <a:xfrm rot="16200000">
            <a:off x="4392941" y="3680247"/>
            <a:ext cx="241428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noProof="0">
                <a:solidFill>
                  <a:srgbClr val="202124"/>
                </a:solidFill>
              </a:rPr>
              <a:t>Post-release deviation affected area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C955C0C7-0C5C-813F-5B88-BDD6BDA885E1}"/>
              </a:ext>
            </a:extLst>
          </p:cNvPr>
          <p:cNvSpPr txBox="1"/>
          <p:nvPr/>
        </p:nvSpPr>
        <p:spPr>
          <a:xfrm>
            <a:off x="-50800" y="6551083"/>
            <a:ext cx="4749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b="1"/>
              <a:t>Enhancement Cycle Phase:</a:t>
            </a:r>
            <a:r>
              <a:rPr lang="en-GB" sz="800"/>
              <a:t> </a:t>
            </a:r>
            <a:r>
              <a:rPr lang="en-GB" sz="800" i="1"/>
              <a:t>Identify Execution Gaps</a:t>
            </a:r>
            <a:br>
              <a:rPr lang="en-GB" sz="800"/>
            </a:br>
            <a:r>
              <a:rPr lang="en-GB" sz="800" i="1"/>
              <a:t>(Process Discovery &amp; Transparency)</a:t>
            </a:r>
            <a:endParaRPr lang="en-GB" sz="800" i="1">
              <a:solidFill>
                <a:srgbClr val="202124"/>
              </a:solidFill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E49E04E-F290-AC64-F7B7-ED8B6857C3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GB" b="1"/>
              <a:t>| 4</a:t>
            </a:r>
          </a:p>
        </p:txBody>
      </p:sp>
    </p:spTree>
    <p:extLst>
      <p:ext uri="{BB962C8B-B14F-4D97-AF65-F5344CB8AC3E}">
        <p14:creationId xmlns:p14="http://schemas.microsoft.com/office/powerpoint/2010/main" val="32778673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08EE2-BCED-097A-4DAB-8AE243F04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8420D7-67A2-31CF-52A7-71984F44B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noProof="0"/>
              <a:t>A Small Number of Post-Release Rework Patterns Drives Most O2C Delays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4C206AB0-A838-FED3-61AD-F33226FA06E7}"/>
              </a:ext>
            </a:extLst>
          </p:cNvPr>
          <p:cNvSpPr txBox="1"/>
          <p:nvPr/>
        </p:nvSpPr>
        <p:spPr>
          <a:xfrm>
            <a:off x="351311" y="1534965"/>
            <a:ext cx="4698226" cy="543225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600" b="1" noProof="0">
                <a:highlight>
                  <a:srgbClr val="D8B35A"/>
                </a:highlight>
              </a:rPr>
              <a:t>Execution Gaps Identified</a:t>
            </a:r>
          </a:p>
          <a:p>
            <a:endParaRPr lang="en-US" sz="1100" b="1" noProof="0"/>
          </a:p>
          <a:p>
            <a:r>
              <a:rPr lang="en-US" sz="1400" b="1" noProof="0"/>
              <a:t>Late Quantity Changes After Load Shipment </a:t>
            </a:r>
          </a:p>
          <a:p>
            <a:r>
              <a:rPr lang="en-US" sz="1000" b="1">
                <a:solidFill>
                  <a:srgbClr val="AFB3B2"/>
                </a:solidFill>
              </a:rPr>
              <a:t>- </a:t>
            </a:r>
            <a:r>
              <a:rPr lang="en-US" sz="1000">
                <a:solidFill>
                  <a:srgbClr val="AFB3B2"/>
                </a:solidFill>
              </a:rPr>
              <a:t>Execution Gap</a:t>
            </a:r>
          </a:p>
          <a:p>
            <a:r>
              <a:rPr lang="en-US" sz="1000" noProof="0"/>
              <a:t>Occur </a:t>
            </a:r>
            <a:r>
              <a:rPr lang="en-US" sz="1000" b="1" noProof="0"/>
              <a:t>after physical execution has started</a:t>
            </a:r>
            <a:endParaRPr lang="en-US" sz="1000" noProof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noProof="0"/>
              <a:t>Affect a </a:t>
            </a:r>
            <a:r>
              <a:rPr lang="en-US" sz="1000" b="1" noProof="0"/>
              <a:t>small but highly impacted subset of orders</a:t>
            </a:r>
            <a:endParaRPr lang="en-US" sz="1000" noProof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noProof="0"/>
              <a:t>Trigger </a:t>
            </a:r>
            <a:r>
              <a:rPr lang="en-US" sz="1000" b="1" noProof="0"/>
              <a:t>rework after shipment</a:t>
            </a:r>
            <a:r>
              <a:rPr lang="en-US" sz="1000" noProof="0"/>
              <a:t>, causing disproportionate delays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noProof="0"/>
          </a:p>
          <a:p>
            <a:r>
              <a:rPr lang="en-US" sz="1000" b="1" noProof="0"/>
              <a:t>Interpretation:</a:t>
            </a:r>
            <a:br>
              <a:rPr lang="en-US" sz="1000" noProof="0"/>
            </a:br>
            <a:r>
              <a:rPr lang="en-US" sz="1000" noProof="0"/>
              <a:t>Late order changes introduce operational rework beyond the controllable execution window.</a:t>
            </a:r>
          </a:p>
          <a:p>
            <a:endParaRPr lang="en-US" sz="1000" noProof="0"/>
          </a:p>
          <a:p>
            <a:r>
              <a:rPr lang="en-US" sz="1400" b="1" noProof="0"/>
              <a:t>Repeated Production Start Date Changes after Production Start </a:t>
            </a:r>
          </a:p>
          <a:p>
            <a:r>
              <a:rPr lang="en-US" sz="1000" b="1">
                <a:solidFill>
                  <a:srgbClr val="AFB3B2"/>
                </a:solidFill>
              </a:rPr>
              <a:t>- </a:t>
            </a:r>
            <a:r>
              <a:rPr lang="en-US" sz="1000">
                <a:solidFill>
                  <a:srgbClr val="AFB3B2"/>
                </a:solidFill>
              </a:rPr>
              <a:t>Planning / Coordination Gap</a:t>
            </a:r>
            <a:endParaRPr lang="en-US" sz="1000" noProof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noProof="0"/>
              <a:t>Occur in the </a:t>
            </a:r>
            <a:r>
              <a:rPr lang="en-US" sz="1000" b="1" noProof="0"/>
              <a:t>vast majority of orders</a:t>
            </a:r>
            <a:endParaRPr lang="en-US" sz="1000" noProof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noProof="0"/>
              <a:t>Low impact per case, but </a:t>
            </a:r>
            <a:r>
              <a:rPr lang="en-US" sz="1000" b="1" noProof="0"/>
              <a:t>systematic and recurring</a:t>
            </a:r>
            <a:endParaRPr lang="en-US" sz="1000" noProof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noProof="0"/>
              <a:t>Primary driver of </a:t>
            </a:r>
            <a:r>
              <a:rPr lang="en-US" sz="1000" b="1" noProof="0"/>
              <a:t>planning instability</a:t>
            </a:r>
            <a:r>
              <a:rPr lang="en-US" sz="1000" noProof="0"/>
              <a:t>, not physical failure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noProof="0"/>
          </a:p>
          <a:p>
            <a:r>
              <a:rPr lang="en-US" sz="1000" b="1" noProof="0"/>
              <a:t>Interpretation:</a:t>
            </a:r>
            <a:br>
              <a:rPr lang="en-US" sz="1000" noProof="0"/>
            </a:br>
            <a:r>
              <a:rPr lang="en-US" sz="1000" noProof="0"/>
              <a:t>Frequent replanning erodes schedule reliability across the network.</a:t>
            </a:r>
          </a:p>
          <a:p>
            <a:endParaRPr lang="en-US" sz="1400" noProof="0"/>
          </a:p>
          <a:p>
            <a:r>
              <a:rPr lang="en-US" sz="1400" b="1" noProof="0"/>
              <a:t>Credit Blocks With Downstream Rework </a:t>
            </a:r>
          </a:p>
          <a:p>
            <a:r>
              <a:rPr lang="en-US" sz="1000">
                <a:solidFill>
                  <a:srgbClr val="AFB3B2"/>
                </a:solidFill>
              </a:rPr>
              <a:t>- Control / Compliance Gap</a:t>
            </a:r>
          </a:p>
          <a:p>
            <a:r>
              <a:rPr lang="en-US" sz="1000" noProof="0"/>
              <a:t>Affect a </a:t>
            </a:r>
            <a:r>
              <a:rPr lang="en-US" sz="1000" b="1" noProof="0"/>
              <a:t>relevant majority of cases (~10%)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noProof="0"/>
              <a:t>Create significant cycle time increases once triggered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noProof="0"/>
          </a:p>
          <a:p>
            <a:r>
              <a:rPr lang="en-US" sz="1000" b="1" noProof="0"/>
              <a:t>Interpretation:</a:t>
            </a:r>
            <a:br>
              <a:rPr lang="en-US" sz="1000" noProof="0"/>
            </a:br>
            <a:r>
              <a:rPr lang="en-US" sz="1000" noProof="0"/>
              <a:t>Payment-related controls introduce downstream process friction beyond order release.</a:t>
            </a:r>
          </a:p>
          <a:p>
            <a:endParaRPr lang="en-US" sz="1000" noProof="0"/>
          </a:p>
          <a:p>
            <a:endParaRPr lang="en-US" sz="1000" noProof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3B6CB733-A7ED-F7BA-DC0E-3D1942B42218}"/>
              </a:ext>
            </a:extLst>
          </p:cNvPr>
          <p:cNvSpPr txBox="1"/>
          <p:nvPr/>
        </p:nvSpPr>
        <p:spPr>
          <a:xfrm>
            <a:off x="5687455" y="4982282"/>
            <a:ext cx="4698226" cy="120032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buNone/>
            </a:pPr>
            <a:r>
              <a:rPr lang="en-US" sz="1600" b="1" noProof="0">
                <a:highlight>
                  <a:srgbClr val="5FB3A2"/>
                </a:highlight>
              </a:rPr>
              <a:t>Why This Matters</a:t>
            </a:r>
          </a:p>
          <a:p>
            <a:r>
              <a:rPr lang="en-US" sz="1400" noProof="0"/>
              <a:t>A small number of recurring execution gaps explains a large share of cycle time variance and planning effort, making them </a:t>
            </a:r>
            <a:r>
              <a:rPr lang="en-US" sz="1400" b="1" noProof="0"/>
              <a:t>high-leverage targets for management action and improvement potential</a:t>
            </a:r>
            <a:r>
              <a:rPr lang="en-US" sz="1400" noProof="0"/>
              <a:t>.</a:t>
            </a:r>
          </a:p>
        </p:txBody>
      </p:sp>
      <p:pic>
        <p:nvPicPr>
          <p:cNvPr id="3" name="Grafik 2" descr="Ein Bild, das Text, Screenshot, Design, Schrift enthält.&#10;&#10;KI-generierte Inhalte können fehlerhaft sein.">
            <a:extLst>
              <a:ext uri="{FF2B5EF4-FFF2-40B4-BE49-F238E27FC236}">
                <a16:creationId xmlns:a16="http://schemas.microsoft.com/office/drawing/2014/main" id="{6E77DC6D-FFAF-1D29-6CA4-EB3AA566DC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3600" y="6244166"/>
            <a:ext cx="730250" cy="613834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119E6C17-5A61-AC47-9A29-D46EC1639557}"/>
              </a:ext>
            </a:extLst>
          </p:cNvPr>
          <p:cNvSpPr txBox="1"/>
          <p:nvPr/>
        </p:nvSpPr>
        <p:spPr>
          <a:xfrm>
            <a:off x="5678169" y="3135403"/>
            <a:ext cx="5710556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>
                <a:solidFill>
                  <a:srgbClr val="202124"/>
                </a:solidFill>
              </a:rPr>
              <a:t>Timestamp inconsistencies</a:t>
            </a:r>
            <a:r>
              <a:rPr lang="en-US" sz="1600" b="1">
                <a:solidFill>
                  <a:srgbClr val="202124"/>
                </a:solidFill>
              </a:rPr>
              <a:t> </a:t>
            </a:r>
          </a:p>
          <a:p>
            <a:r>
              <a:rPr lang="en-US" sz="1000" b="1" noProof="0">
                <a:solidFill>
                  <a:srgbClr val="AFB3B2"/>
                </a:solidFill>
              </a:rPr>
              <a:t>- </a:t>
            </a:r>
            <a:r>
              <a:rPr lang="en-US" sz="1000">
                <a:solidFill>
                  <a:srgbClr val="AFB3B2"/>
                </a:solidFill>
              </a:rPr>
              <a:t>Data / Technical Artifact</a:t>
            </a:r>
            <a:endParaRPr lang="en-US" sz="1600" b="1" noProof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000" noProof="0"/>
              <a:t> Timestamps do not reliably reflect business execution order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000" noProof="0"/>
              <a:t> Root cause: </a:t>
            </a:r>
            <a:r>
              <a:rPr lang="en-US" sz="1000" b="1" noProof="0"/>
              <a:t>technical logging effects </a:t>
            </a:r>
            <a:r>
              <a:rPr lang="en-US" sz="1000" noProof="0"/>
              <a:t>(e.g., </a:t>
            </a:r>
            <a:r>
              <a:rPr lang="en-GB" sz="1000"/>
              <a:t>retrospective</a:t>
            </a:r>
            <a:r>
              <a:rPr lang="en-US" sz="1000" noProof="0"/>
              <a:t> reporting)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000" noProof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000" noProof="0"/>
              <a:t>Analytical handling: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000" noProof="0"/>
              <a:t> Process order defined by business logic (sorting column)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000" noProof="0"/>
              <a:t> plausible Timestamps used for </a:t>
            </a:r>
            <a:r>
              <a:rPr lang="en-US" sz="1000" b="1" noProof="0"/>
              <a:t>durations only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B58F9260-59BF-D2E5-DF2D-0A891982D12E}"/>
              </a:ext>
            </a:extLst>
          </p:cNvPr>
          <p:cNvSpPr txBox="1"/>
          <p:nvPr/>
        </p:nvSpPr>
        <p:spPr>
          <a:xfrm>
            <a:off x="5678169" y="1534965"/>
            <a:ext cx="6102350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noProof="0"/>
              <a:t>Sales price rework after Sale confirmation </a:t>
            </a:r>
          </a:p>
          <a:p>
            <a:r>
              <a:rPr lang="en-US" sz="1000" b="1">
                <a:solidFill>
                  <a:srgbClr val="AFB3B2"/>
                </a:solidFill>
              </a:rPr>
              <a:t>- </a:t>
            </a:r>
            <a:r>
              <a:rPr lang="en-US" sz="1000">
                <a:solidFill>
                  <a:srgbClr val="AFB3B2"/>
                </a:solidFill>
              </a:rPr>
              <a:t>Commercial / Policy Gap</a:t>
            </a:r>
            <a:endParaRPr lang="en-US" sz="1000" b="1" noProof="0"/>
          </a:p>
          <a:p>
            <a:r>
              <a:rPr lang="en-US" sz="1000" noProof="0"/>
              <a:t>Affect a </a:t>
            </a:r>
            <a:r>
              <a:rPr lang="en-US" sz="1000" b="1" noProof="0"/>
              <a:t>relevant minority of cases</a:t>
            </a:r>
            <a:endParaRPr lang="en-US" sz="1000" noProof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noProof="0"/>
              <a:t>Affect a </a:t>
            </a:r>
            <a:r>
              <a:rPr lang="en-US" sz="1000" b="1" noProof="0"/>
              <a:t>relevant majority of cases (~13%)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noProof="0"/>
              <a:t>Create significant cycle time increases once triggered</a:t>
            </a:r>
          </a:p>
          <a:p>
            <a:endParaRPr lang="en-US" sz="1000" noProof="0"/>
          </a:p>
          <a:p>
            <a:r>
              <a:rPr lang="en-US" sz="1000" b="1" noProof="0"/>
              <a:t>Interpretation:</a:t>
            </a:r>
            <a:br>
              <a:rPr lang="en-US" sz="1000" noProof="0"/>
            </a:br>
            <a:r>
              <a:rPr lang="en-US" sz="1000" noProof="0"/>
              <a:t>Sales prices are renegotiated and reprocessed after order receipt and sale confirmation, causing additional approval steps, rework loops, and execution delays in O2C.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C686BFC4-FD90-3EA3-8758-32F1FD6C993A}"/>
              </a:ext>
            </a:extLst>
          </p:cNvPr>
          <p:cNvSpPr txBox="1"/>
          <p:nvPr/>
        </p:nvSpPr>
        <p:spPr>
          <a:xfrm>
            <a:off x="-50800" y="6551083"/>
            <a:ext cx="47498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b="1"/>
              <a:t>Enhancement Cycle Phase:</a:t>
            </a:r>
            <a:r>
              <a:rPr lang="en-GB" sz="800"/>
              <a:t> </a:t>
            </a:r>
            <a:r>
              <a:rPr lang="en-GB" sz="800" i="1"/>
              <a:t>Quantify Execution Gaps</a:t>
            </a:r>
            <a:endParaRPr lang="en-GB" sz="800" i="1">
              <a:solidFill>
                <a:srgbClr val="202124"/>
              </a:solidFill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7FD9228-1F5B-54F5-11DE-38376F3876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GB" b="1"/>
              <a:t>| 5 </a:t>
            </a:r>
          </a:p>
        </p:txBody>
      </p:sp>
    </p:spTree>
    <p:extLst>
      <p:ext uri="{BB962C8B-B14F-4D97-AF65-F5344CB8AC3E}">
        <p14:creationId xmlns:p14="http://schemas.microsoft.com/office/powerpoint/2010/main" val="3775903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182DB-C572-C4C1-5A30-A0CD325C5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0" name="Tabelle 59">
            <a:extLst>
              <a:ext uri="{FF2B5EF4-FFF2-40B4-BE49-F238E27FC236}">
                <a16:creationId xmlns:a16="http://schemas.microsoft.com/office/drawing/2014/main" id="{C6862C1B-6B39-FA39-AE6F-D023430F2D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6200587"/>
              </p:ext>
            </p:extLst>
          </p:nvPr>
        </p:nvGraphicFramePr>
        <p:xfrm>
          <a:off x="173315" y="1872977"/>
          <a:ext cx="4597305" cy="455982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63285">
                  <a:extLst>
                    <a:ext uri="{9D8B030D-6E8A-4147-A177-3AD203B41FA5}">
                      <a16:colId xmlns:a16="http://schemas.microsoft.com/office/drawing/2014/main" val="3837669620"/>
                    </a:ext>
                  </a:extLst>
                </a:gridCol>
                <a:gridCol w="971999">
                  <a:extLst>
                    <a:ext uri="{9D8B030D-6E8A-4147-A177-3AD203B41FA5}">
                      <a16:colId xmlns:a16="http://schemas.microsoft.com/office/drawing/2014/main" val="2970177897"/>
                    </a:ext>
                  </a:extLst>
                </a:gridCol>
                <a:gridCol w="628201">
                  <a:extLst>
                    <a:ext uri="{9D8B030D-6E8A-4147-A177-3AD203B41FA5}">
                      <a16:colId xmlns:a16="http://schemas.microsoft.com/office/drawing/2014/main" val="120435896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3287419502"/>
                    </a:ext>
                  </a:extLst>
                </a:gridCol>
                <a:gridCol w="850900">
                  <a:extLst>
                    <a:ext uri="{9D8B030D-6E8A-4147-A177-3AD203B41FA5}">
                      <a16:colId xmlns:a16="http://schemas.microsoft.com/office/drawing/2014/main" val="567755854"/>
                    </a:ext>
                  </a:extLst>
                </a:gridCol>
                <a:gridCol w="839970">
                  <a:extLst>
                    <a:ext uri="{9D8B030D-6E8A-4147-A177-3AD203B41FA5}">
                      <a16:colId xmlns:a16="http://schemas.microsoft.com/office/drawing/2014/main" val="762938049"/>
                    </a:ext>
                  </a:extLst>
                </a:gridCol>
              </a:tblGrid>
              <a:tr h="82336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1" noProof="0">
                          <a:ln>
                            <a:noFill/>
                          </a:ln>
                          <a:latin typeface="+mj-lt"/>
                        </a:rPr>
                        <a:t>Rank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1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+mj-lt"/>
                        </a:rPr>
                        <a:t>(Importance)</a:t>
                      </a:r>
                      <a:endParaRPr lang="en-US" sz="300" b="1" noProof="0">
                        <a:solidFill>
                          <a:schemeClr val="bg1"/>
                        </a:solidFill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endParaRPr lang="en-US" sz="1600" b="1" noProof="0">
                        <a:ln>
                          <a:noFill/>
                        </a:ln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noProof="0">
                          <a:ln>
                            <a:noFill/>
                          </a:ln>
                          <a:latin typeface="+mj-lt"/>
                        </a:rPr>
                        <a:t>Gap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noProof="0"/>
                        <a:t>Per Case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noProof="0"/>
                        <a:t>% of Orders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noProof="0"/>
                        <a:t>Δ Cycle TPT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noProof="0">
                          <a:solidFill>
                            <a:schemeClr val="bg1"/>
                          </a:solidFill>
                        </a:rPr>
                        <a:t>vs. Happy Path median of 41.5d 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noProof="0">
                          <a:solidFill>
                            <a:srgbClr val="F3F6F6"/>
                          </a:solidFill>
                        </a:rPr>
                        <a:t>Business Risk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B3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99713"/>
                  </a:ext>
                </a:extLst>
              </a:tr>
              <a:tr h="823366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200" noProof="0">
                          <a:ln>
                            <a:noFill/>
                          </a:ln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noProof="0">
                          <a:latin typeface="+mn-lt"/>
                        </a:rPr>
                        <a:t>Post-loading quantity correction</a:t>
                      </a:r>
                      <a:endParaRPr lang="en-US" sz="1100" b="1" noProof="0">
                        <a:ln>
                          <a:noFill/>
                        </a:ln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noProof="0">
                          <a:latin typeface="+mn-lt"/>
                        </a:rPr>
                        <a:t>1-13</a:t>
                      </a:r>
                    </a:p>
                    <a:p>
                      <a:r>
                        <a:rPr lang="en-US" sz="1100" noProof="0">
                          <a:latin typeface="+mn-lt"/>
                        </a:rPr>
                        <a:t>1</a:t>
                      </a:r>
                    </a:p>
                    <a:p>
                      <a:r>
                        <a:rPr lang="en-US" sz="1100" noProof="0">
                          <a:latin typeface="+mn-lt"/>
                        </a:rPr>
                        <a:t>2</a:t>
                      </a:r>
                    </a:p>
                    <a:p>
                      <a:r>
                        <a:rPr lang="en-US" sz="1100" noProof="0">
                          <a:latin typeface="+mn-lt"/>
                        </a:rPr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noProof="0">
                          <a:latin typeface="+mn-lt"/>
                        </a:rPr>
                        <a:t>27.9%</a:t>
                      </a:r>
                    </a:p>
                    <a:p>
                      <a:r>
                        <a:rPr lang="en-US" sz="1100" noProof="0">
                          <a:latin typeface="+mn-lt"/>
                        </a:rPr>
                        <a:t>12.5%</a:t>
                      </a:r>
                    </a:p>
                    <a:p>
                      <a:r>
                        <a:rPr lang="en-US" sz="1100" noProof="0">
                          <a:latin typeface="+mn-lt"/>
                        </a:rPr>
                        <a:t>11%</a:t>
                      </a:r>
                    </a:p>
                    <a:p>
                      <a:r>
                        <a:rPr lang="en-US" sz="1100" noProof="0">
                          <a:latin typeface="+mn-lt"/>
                        </a:rPr>
                        <a:t>3.6%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noProof="0">
                          <a:ln>
                            <a:noFill/>
                          </a:ln>
                          <a:solidFill>
                            <a:srgbClr val="202124"/>
                          </a:solidFill>
                          <a:latin typeface="+mn-lt"/>
                        </a:rPr>
                        <a:t>+11 d</a:t>
                      </a:r>
                    </a:p>
                    <a:p>
                      <a:r>
                        <a:rPr lang="en-US" sz="1100" b="1" noProof="0">
                          <a:ln>
                            <a:noFill/>
                          </a:ln>
                          <a:solidFill>
                            <a:srgbClr val="202124"/>
                          </a:solidFill>
                          <a:latin typeface="+mn-lt"/>
                        </a:rPr>
                        <a:t>+8.9 d</a:t>
                      </a:r>
                    </a:p>
                    <a:p>
                      <a:r>
                        <a:rPr lang="en-US" sz="1100" b="1" noProof="0">
                          <a:ln>
                            <a:noFill/>
                          </a:ln>
                          <a:solidFill>
                            <a:srgbClr val="202124"/>
                          </a:solidFill>
                          <a:latin typeface="+mn-lt"/>
                        </a:rPr>
                        <a:t>+10.9 d</a:t>
                      </a:r>
                    </a:p>
                    <a:p>
                      <a:r>
                        <a:rPr lang="en-US" sz="1100" b="1" noProof="0">
                          <a:ln>
                            <a:noFill/>
                          </a:ln>
                          <a:solidFill>
                            <a:srgbClr val="202124"/>
                          </a:solidFill>
                          <a:latin typeface="+mn-lt"/>
                        </a:rPr>
                        <a:t>+10.5 d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2F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 b="1" i="0" u="none" strike="noStrike" noProof="0">
                          <a:ln>
                            <a:noFill/>
                          </a:ln>
                          <a:solidFill>
                            <a:srgbClr val="202124"/>
                          </a:solidFill>
                          <a:latin typeface="+mn-lt"/>
                        </a:rPr>
                        <a:t>VERY HIGH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6662348"/>
                  </a:ext>
                </a:extLst>
              </a:tr>
              <a:tr h="706922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200" noProof="0">
                          <a:ln>
                            <a:noFill/>
                          </a:ln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100" b="1" noProof="0">
                          <a:latin typeface="+mn-lt"/>
                        </a:rPr>
                        <a:t>Credit order block</a:t>
                      </a:r>
                      <a:endParaRPr lang="en-US" sz="1100" b="1" noProof="0">
                        <a:ln>
                          <a:noFill/>
                        </a:ln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2F0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noProof="0">
                          <a:latin typeface="+mn-lt"/>
                        </a:rPr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2F0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noProof="0">
                          <a:latin typeface="+mn-lt"/>
                        </a:rPr>
                        <a:t>10% 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noProof="0">
                          <a:ln>
                            <a:noFill/>
                          </a:ln>
                          <a:solidFill>
                            <a:srgbClr val="202124"/>
                          </a:solidFill>
                          <a:latin typeface="+mn-lt"/>
                        </a:rPr>
                        <a:t>+19.5 d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i="0" u="none" strike="noStrike" noProof="0">
                          <a:ln>
                            <a:noFill/>
                          </a:ln>
                          <a:solidFill>
                            <a:srgbClr val="202124"/>
                          </a:solidFill>
                          <a:latin typeface="+mn-lt"/>
                        </a:rPr>
                        <a:t>VERY</a:t>
                      </a:r>
                    </a:p>
                    <a:p>
                      <a:pPr algn="ctr"/>
                      <a:r>
                        <a:rPr lang="en-US" sz="1100" b="1" noProof="0">
                          <a:ln>
                            <a:noFill/>
                          </a:ln>
                          <a:solidFill>
                            <a:srgbClr val="202124"/>
                          </a:solidFill>
                          <a:latin typeface="+mn-lt"/>
                        </a:rPr>
                        <a:t>HIGH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9790686"/>
                  </a:ext>
                </a:extLst>
              </a:tr>
              <a:tr h="110889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sz="1200" b="1" kern="1200" noProof="0">
                          <a:ln>
                            <a:noFill/>
                          </a:ln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100" b="1" noProof="0">
                          <a:latin typeface="+mn-lt"/>
                        </a:rPr>
                        <a:t>Post-confirm sale price rework</a:t>
                      </a:r>
                      <a:endParaRPr lang="en-US" sz="1100" b="1" noProof="0">
                        <a:ln>
                          <a:noFill/>
                        </a:ln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2F0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noProof="0">
                          <a:latin typeface="+mn-lt"/>
                        </a:rPr>
                        <a:t>1-9</a:t>
                      </a:r>
                    </a:p>
                    <a:p>
                      <a:pPr lvl="0">
                        <a:buNone/>
                      </a:pPr>
                      <a:r>
                        <a:rPr lang="en-US" sz="1100" noProof="0">
                          <a:latin typeface="+mn-lt"/>
                        </a:rPr>
                        <a:t>1</a:t>
                      </a:r>
                    </a:p>
                    <a:p>
                      <a:pPr lvl="0">
                        <a:buNone/>
                      </a:pPr>
                      <a:r>
                        <a:rPr lang="en-US" sz="1100" noProof="0">
                          <a:latin typeface="+mn-lt"/>
                        </a:rPr>
                        <a:t>2</a:t>
                      </a:r>
                    </a:p>
                    <a:p>
                      <a:pPr lvl="0">
                        <a:buNone/>
                      </a:pPr>
                      <a:r>
                        <a:rPr lang="en-US" sz="1100" noProof="0">
                          <a:latin typeface="+mn-lt"/>
                        </a:rPr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2F0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noProof="0">
                          <a:latin typeface="+mn-lt"/>
                        </a:rPr>
                        <a:t>13%</a:t>
                      </a:r>
                    </a:p>
                    <a:p>
                      <a:pPr lvl="0">
                        <a:buNone/>
                      </a:pPr>
                      <a:r>
                        <a:rPr lang="en-US" sz="1100" noProof="0">
                          <a:latin typeface="+mn-lt"/>
                        </a:rPr>
                        <a:t>6.4%</a:t>
                      </a:r>
                    </a:p>
                    <a:p>
                      <a:pPr lvl="0">
                        <a:buNone/>
                      </a:pPr>
                      <a:r>
                        <a:rPr lang="en-US" sz="1100" noProof="0">
                          <a:latin typeface="+mn-lt"/>
                        </a:rPr>
                        <a:t>5.5%</a:t>
                      </a:r>
                    </a:p>
                    <a:p>
                      <a:pPr lvl="0">
                        <a:buNone/>
                      </a:pPr>
                      <a:r>
                        <a:rPr lang="en-US" sz="1100" noProof="0">
                          <a:latin typeface="+mn-lt"/>
                        </a:rPr>
                        <a:t>0.8%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2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sz="1100" b="1" noProof="0">
                          <a:ln>
                            <a:noFill/>
                          </a:ln>
                          <a:solidFill>
                            <a:srgbClr val="202124"/>
                          </a:solidFill>
                          <a:latin typeface="+mn-lt"/>
                        </a:rPr>
                        <a:t>+19.9d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n-US" sz="1100" b="1" noProof="0">
                          <a:ln>
                            <a:noFill/>
                          </a:ln>
                          <a:solidFill>
                            <a:srgbClr val="202124"/>
                          </a:solidFill>
                          <a:latin typeface="+mn-lt"/>
                        </a:rPr>
                        <a:t>+19.9d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n-US" sz="1100" b="1" noProof="0">
                          <a:ln>
                            <a:noFill/>
                          </a:ln>
                          <a:solidFill>
                            <a:srgbClr val="202124"/>
                          </a:solidFill>
                          <a:latin typeface="+mn-lt"/>
                        </a:rPr>
                        <a:t>+16.5d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n-US" sz="1100" b="1" noProof="0">
                          <a:ln>
                            <a:noFill/>
                          </a:ln>
                          <a:solidFill>
                            <a:srgbClr val="202124"/>
                          </a:solidFill>
                          <a:latin typeface="+mn-lt"/>
                        </a:rPr>
                        <a:t>+32.8d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noProof="0">
                          <a:ln>
                            <a:noFill/>
                          </a:ln>
                          <a:solidFill>
                            <a:srgbClr val="202124"/>
                          </a:solidFill>
                          <a:latin typeface="+mn-lt"/>
                        </a:rPr>
                        <a:t>HIGH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0744721"/>
                  </a:ext>
                </a:extLst>
              </a:tr>
              <a:tr h="982728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200000"/>
                        </a:lnSpc>
                      </a:pPr>
                      <a:r>
                        <a:rPr lang="en-US" sz="1200" b="1" kern="1200" noProof="0">
                          <a:ln>
                            <a:noFill/>
                          </a:ln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100" b="1" noProof="0">
                          <a:latin typeface="+mn-lt"/>
                        </a:rPr>
                        <a:t>Repeated </a:t>
                      </a:r>
                      <a:r>
                        <a:rPr lang="en-US" sz="1100" b="1" noProof="0"/>
                        <a:t>Production Re-Scheduling After P-Start</a:t>
                      </a:r>
                      <a:endParaRPr lang="en-US" sz="1100" b="1" noProof="0">
                        <a:ln>
                          <a:noFill/>
                        </a:ln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2F0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noProof="0">
                          <a:latin typeface="+mn-lt"/>
                        </a:rPr>
                        <a:t>1-9</a:t>
                      </a:r>
                    </a:p>
                    <a:p>
                      <a:pPr lvl="0">
                        <a:buNone/>
                      </a:pPr>
                      <a:r>
                        <a:rPr lang="en-US" sz="1100" noProof="0">
                          <a:latin typeface="+mn-lt"/>
                        </a:rPr>
                        <a:t>1</a:t>
                      </a:r>
                    </a:p>
                    <a:p>
                      <a:pPr lvl="0">
                        <a:buNone/>
                      </a:pPr>
                      <a:r>
                        <a:rPr lang="en-US" sz="1100" noProof="0">
                          <a:latin typeface="+mn-lt"/>
                        </a:rPr>
                        <a:t>2</a:t>
                      </a:r>
                    </a:p>
                    <a:p>
                      <a:pPr lvl="0">
                        <a:buNone/>
                      </a:pPr>
                      <a:r>
                        <a:rPr lang="en-US" sz="1100" noProof="0">
                          <a:latin typeface="+mn-lt"/>
                        </a:rPr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2F0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noProof="0">
                          <a:latin typeface="+mn-lt"/>
                        </a:rPr>
                        <a:t>48.2%</a:t>
                      </a:r>
                    </a:p>
                    <a:p>
                      <a:pPr lvl="0">
                        <a:buNone/>
                      </a:pPr>
                      <a:r>
                        <a:rPr lang="en-US" sz="1100" noProof="0">
                          <a:latin typeface="+mn-lt"/>
                        </a:rPr>
                        <a:t>38.3%</a:t>
                      </a:r>
                    </a:p>
                    <a:p>
                      <a:pPr lvl="0">
                        <a:buNone/>
                      </a:pPr>
                      <a:r>
                        <a:rPr lang="en-US" sz="1100" noProof="0">
                          <a:latin typeface="+mn-lt"/>
                        </a:rPr>
                        <a:t>7.5%</a:t>
                      </a:r>
                    </a:p>
                    <a:p>
                      <a:pPr lvl="0">
                        <a:buNone/>
                      </a:pPr>
                      <a:r>
                        <a:rPr lang="en-US" sz="1100" noProof="0">
                          <a:latin typeface="+mn-lt"/>
                        </a:rPr>
                        <a:t>2%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2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sz="1100" b="1" noProof="0">
                          <a:ln>
                            <a:noFill/>
                          </a:ln>
                          <a:solidFill>
                            <a:srgbClr val="8FA3A1"/>
                          </a:solidFill>
                          <a:latin typeface="+mn-lt"/>
                        </a:rPr>
                        <a:t>-13.5 d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n-US" sz="1100" b="1" noProof="0">
                          <a:ln>
                            <a:noFill/>
                          </a:ln>
                          <a:solidFill>
                            <a:srgbClr val="8FA3A1"/>
                          </a:solidFill>
                          <a:latin typeface="+mn-lt"/>
                        </a:rPr>
                        <a:t>-16.5 d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n-US" sz="1100" b="1" noProof="0">
                          <a:ln>
                            <a:noFill/>
                          </a:ln>
                          <a:solidFill>
                            <a:srgbClr val="202124"/>
                          </a:solidFill>
                          <a:latin typeface="+mn-lt"/>
                        </a:rPr>
                        <a:t>+5.5 d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n-US" sz="1100" b="1" noProof="0">
                          <a:ln>
                            <a:noFill/>
                          </a:ln>
                          <a:solidFill>
                            <a:srgbClr val="202124"/>
                          </a:solidFill>
                          <a:latin typeface="+mn-lt"/>
                        </a:rPr>
                        <a:t>+11.5 d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noProof="0">
                          <a:ln>
                            <a:noFill/>
                          </a:ln>
                          <a:solidFill>
                            <a:srgbClr val="202124"/>
                          </a:solidFill>
                          <a:latin typeface="+mn-lt"/>
                        </a:rPr>
                        <a:t>MEDIUM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4842181"/>
                  </a:ext>
                </a:extLst>
              </a:tr>
            </a:tbl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AA606D7B-1394-F809-48B6-291947825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noProof="0"/>
              <a:t>Two Post-Release Execution Gaps Require Immediate Management Attention</a:t>
            </a:r>
          </a:p>
        </p:txBody>
      </p:sp>
      <p:pic>
        <p:nvPicPr>
          <p:cNvPr id="3" name="Grafik 2" descr="Ein Bild, das Text, Screenshot, Design, Schrift enthält.&#10;&#10;KI-generierte Inhalte können fehlerhaft sein.">
            <a:extLst>
              <a:ext uri="{FF2B5EF4-FFF2-40B4-BE49-F238E27FC236}">
                <a16:creationId xmlns:a16="http://schemas.microsoft.com/office/drawing/2014/main" id="{690BDC07-85D9-09BF-8BAD-3AAA694BD3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3600" y="6244166"/>
            <a:ext cx="730250" cy="613834"/>
          </a:xfrm>
          <a:prstGeom prst="rect">
            <a:avLst/>
          </a:prstGeom>
        </p:spPr>
      </p:pic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0559AA29-4492-F9BA-E7BE-A549987B03A5}"/>
              </a:ext>
            </a:extLst>
          </p:cNvPr>
          <p:cNvCxnSpPr>
            <a:cxnSpLocks/>
          </p:cNvCxnSpPr>
          <p:nvPr/>
        </p:nvCxnSpPr>
        <p:spPr>
          <a:xfrm flipV="1">
            <a:off x="5418849" y="1714801"/>
            <a:ext cx="0" cy="2975543"/>
          </a:xfrm>
          <a:prstGeom prst="straightConnector1">
            <a:avLst/>
          </a:prstGeom>
          <a:ln w="38100">
            <a:solidFill>
              <a:srgbClr val="8FA3A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DB694DAD-52B6-5FA3-E68F-AEF30509E60C}"/>
              </a:ext>
            </a:extLst>
          </p:cNvPr>
          <p:cNvCxnSpPr>
            <a:cxnSpLocks/>
          </p:cNvCxnSpPr>
          <p:nvPr/>
        </p:nvCxnSpPr>
        <p:spPr>
          <a:xfrm>
            <a:off x="5418849" y="4693862"/>
            <a:ext cx="5969525" cy="0"/>
          </a:xfrm>
          <a:prstGeom prst="straightConnector1">
            <a:avLst/>
          </a:prstGeom>
          <a:ln w="38100">
            <a:solidFill>
              <a:srgbClr val="8FA3A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feld 16">
            <a:extLst>
              <a:ext uri="{FF2B5EF4-FFF2-40B4-BE49-F238E27FC236}">
                <a16:creationId xmlns:a16="http://schemas.microsoft.com/office/drawing/2014/main" id="{CB7D5226-4D05-82B5-0D78-8AA5F90EAB97}"/>
              </a:ext>
            </a:extLst>
          </p:cNvPr>
          <p:cNvSpPr txBox="1"/>
          <p:nvPr/>
        </p:nvSpPr>
        <p:spPr>
          <a:xfrm rot="16200000">
            <a:off x="4077391" y="2909335"/>
            <a:ext cx="22787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>
                <a:solidFill>
                  <a:srgbClr val="1F4E4A"/>
                </a:solidFill>
              </a:rPr>
              <a:t>Business Risk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5DEBD679-270D-A886-BF85-650185981CD4}"/>
              </a:ext>
            </a:extLst>
          </p:cNvPr>
          <p:cNvSpPr txBox="1"/>
          <p:nvPr/>
        </p:nvSpPr>
        <p:spPr>
          <a:xfrm>
            <a:off x="6909684" y="4759718"/>
            <a:ext cx="3401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>
                <a:solidFill>
                  <a:srgbClr val="1F4E4A"/>
                </a:solidFill>
              </a:rPr>
              <a:t>Implementation Effort</a:t>
            </a:r>
          </a:p>
        </p:txBody>
      </p: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7173AFC1-5CD5-9A64-866D-54F46F29E0F6}"/>
              </a:ext>
            </a:extLst>
          </p:cNvPr>
          <p:cNvSpPr/>
          <p:nvPr/>
        </p:nvSpPr>
        <p:spPr>
          <a:xfrm>
            <a:off x="5815693" y="1944392"/>
            <a:ext cx="2451656" cy="1177926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noProof="0"/>
              <a:t>Immediate Management Actions</a:t>
            </a:r>
          </a:p>
        </p:txBody>
      </p:sp>
      <p:sp>
        <p:nvSpPr>
          <p:cNvPr id="20" name="Rechteck: abgerundete Ecken 19">
            <a:extLst>
              <a:ext uri="{FF2B5EF4-FFF2-40B4-BE49-F238E27FC236}">
                <a16:creationId xmlns:a16="http://schemas.microsoft.com/office/drawing/2014/main" id="{FC540A52-3327-1C97-AA13-34029FB9C2AD}"/>
              </a:ext>
            </a:extLst>
          </p:cNvPr>
          <p:cNvSpPr/>
          <p:nvPr/>
        </p:nvSpPr>
        <p:spPr>
          <a:xfrm>
            <a:off x="5815693" y="3223520"/>
            <a:ext cx="2451656" cy="1177926"/>
          </a:xfrm>
          <a:prstGeom prst="roundRect">
            <a:avLst/>
          </a:prstGeom>
          <a:solidFill>
            <a:srgbClr val="8FA3A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noProof="0"/>
              <a:t>Monitor</a:t>
            </a:r>
          </a:p>
        </p:txBody>
      </p:sp>
      <p:sp>
        <p:nvSpPr>
          <p:cNvPr id="25" name="Rechteck: abgerundete Ecken 24">
            <a:extLst>
              <a:ext uri="{FF2B5EF4-FFF2-40B4-BE49-F238E27FC236}">
                <a16:creationId xmlns:a16="http://schemas.microsoft.com/office/drawing/2014/main" id="{F34C883E-D82C-00B0-34AE-4C7CE68625B4}"/>
              </a:ext>
            </a:extLst>
          </p:cNvPr>
          <p:cNvSpPr/>
          <p:nvPr/>
        </p:nvSpPr>
        <p:spPr>
          <a:xfrm>
            <a:off x="8463644" y="3222444"/>
            <a:ext cx="2451656" cy="1177926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noProof="0"/>
              <a:t>Not Economically Justified</a:t>
            </a:r>
          </a:p>
        </p:txBody>
      </p:sp>
      <p:sp>
        <p:nvSpPr>
          <p:cNvPr id="30" name="Rechteck: abgerundete Ecken 29">
            <a:extLst>
              <a:ext uri="{FF2B5EF4-FFF2-40B4-BE49-F238E27FC236}">
                <a16:creationId xmlns:a16="http://schemas.microsoft.com/office/drawing/2014/main" id="{0D151F43-7492-04BD-72F6-459737992C80}"/>
              </a:ext>
            </a:extLst>
          </p:cNvPr>
          <p:cNvSpPr/>
          <p:nvPr/>
        </p:nvSpPr>
        <p:spPr>
          <a:xfrm>
            <a:off x="8463644" y="1956455"/>
            <a:ext cx="2451656" cy="1177926"/>
          </a:xfrm>
          <a:prstGeom prst="roundRect">
            <a:avLst/>
          </a:prstGeom>
          <a:solidFill>
            <a:srgbClr val="8FA3A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noProof="0"/>
              <a:t>Structural Improvement Initiatives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774FDBC1-4D9F-4B95-5359-1FB0CEF205BF}"/>
              </a:ext>
            </a:extLst>
          </p:cNvPr>
          <p:cNvSpPr txBox="1"/>
          <p:nvPr/>
        </p:nvSpPr>
        <p:spPr>
          <a:xfrm rot="16200000">
            <a:off x="4888989" y="3208522"/>
            <a:ext cx="1485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>
                <a:solidFill>
                  <a:srgbClr val="5FB3A2"/>
                </a:solidFill>
              </a:rPr>
              <a:t>Low</a:t>
            </a: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65641DBE-D191-2D16-98DD-5E6696A2DB20}"/>
              </a:ext>
            </a:extLst>
          </p:cNvPr>
          <p:cNvSpPr txBox="1"/>
          <p:nvPr/>
        </p:nvSpPr>
        <p:spPr>
          <a:xfrm rot="16200000">
            <a:off x="4884919" y="1998883"/>
            <a:ext cx="1485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>
                <a:solidFill>
                  <a:srgbClr val="5FB3A2"/>
                </a:solidFill>
              </a:rPr>
              <a:t>High</a:t>
            </a: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3C2705D0-597A-9681-3BF4-FB797252C97F}"/>
              </a:ext>
            </a:extLst>
          </p:cNvPr>
          <p:cNvSpPr txBox="1"/>
          <p:nvPr/>
        </p:nvSpPr>
        <p:spPr>
          <a:xfrm>
            <a:off x="6798878" y="4354203"/>
            <a:ext cx="1485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>
                <a:solidFill>
                  <a:srgbClr val="5FB3A2"/>
                </a:solidFill>
              </a:rPr>
              <a:t>Low</a:t>
            </a: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ACB08BA9-BF13-5DC1-06B6-FF4B1F1DC021}"/>
              </a:ext>
            </a:extLst>
          </p:cNvPr>
          <p:cNvSpPr txBox="1"/>
          <p:nvPr/>
        </p:nvSpPr>
        <p:spPr>
          <a:xfrm>
            <a:off x="9267963" y="4354203"/>
            <a:ext cx="1485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>
                <a:solidFill>
                  <a:srgbClr val="5FB3A2"/>
                </a:solidFill>
              </a:rPr>
              <a:t>High</a:t>
            </a:r>
          </a:p>
        </p:txBody>
      </p: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2B808B03-5D48-46DF-3CF6-A170E9AC65CF}"/>
              </a:ext>
            </a:extLst>
          </p:cNvPr>
          <p:cNvCxnSpPr/>
          <p:nvPr/>
        </p:nvCxnSpPr>
        <p:spPr>
          <a:xfrm>
            <a:off x="5418849" y="3166896"/>
            <a:ext cx="5675896" cy="0"/>
          </a:xfrm>
          <a:prstGeom prst="line">
            <a:avLst/>
          </a:prstGeom>
          <a:ln>
            <a:solidFill>
              <a:srgbClr val="8FA3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98B09D29-C7A3-7557-A98E-1A81252E50B7}"/>
              </a:ext>
            </a:extLst>
          </p:cNvPr>
          <p:cNvCxnSpPr>
            <a:cxnSpLocks/>
          </p:cNvCxnSpPr>
          <p:nvPr/>
        </p:nvCxnSpPr>
        <p:spPr>
          <a:xfrm>
            <a:off x="8346017" y="1956455"/>
            <a:ext cx="43727" cy="2722926"/>
          </a:xfrm>
          <a:prstGeom prst="line">
            <a:avLst/>
          </a:prstGeom>
          <a:ln>
            <a:solidFill>
              <a:srgbClr val="8FA3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Gleichschenkliges Dreieck 52">
            <a:extLst>
              <a:ext uri="{FF2B5EF4-FFF2-40B4-BE49-F238E27FC236}">
                <a16:creationId xmlns:a16="http://schemas.microsoft.com/office/drawing/2014/main" id="{F3F063CC-8397-DFE8-F7CF-66BE9641BB28}"/>
              </a:ext>
            </a:extLst>
          </p:cNvPr>
          <p:cNvSpPr/>
          <p:nvPr/>
        </p:nvSpPr>
        <p:spPr>
          <a:xfrm>
            <a:off x="8004797" y="2357243"/>
            <a:ext cx="504000" cy="432000"/>
          </a:xfrm>
          <a:prstGeom prst="triangle">
            <a:avLst/>
          </a:prstGeom>
          <a:solidFill>
            <a:srgbClr val="D8B35A">
              <a:alpha val="8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noProof="0"/>
              <a:t>2</a:t>
            </a:r>
          </a:p>
        </p:txBody>
      </p:sp>
      <p:sp>
        <p:nvSpPr>
          <p:cNvPr id="56" name="Gleichschenkliges Dreieck 55">
            <a:extLst>
              <a:ext uri="{FF2B5EF4-FFF2-40B4-BE49-F238E27FC236}">
                <a16:creationId xmlns:a16="http://schemas.microsoft.com/office/drawing/2014/main" id="{59E8BACE-811F-71C2-42D0-0A45590792A6}"/>
              </a:ext>
            </a:extLst>
          </p:cNvPr>
          <p:cNvSpPr/>
          <p:nvPr/>
        </p:nvSpPr>
        <p:spPr>
          <a:xfrm>
            <a:off x="7193593" y="1685644"/>
            <a:ext cx="504000" cy="432000"/>
          </a:xfrm>
          <a:prstGeom prst="triangle">
            <a:avLst/>
          </a:prstGeom>
          <a:solidFill>
            <a:srgbClr val="D8B35A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noProof="0"/>
              <a:t>1</a:t>
            </a:r>
          </a:p>
        </p:txBody>
      </p:sp>
      <p:sp>
        <p:nvSpPr>
          <p:cNvPr id="57" name="Gleichschenkliges Dreieck 56">
            <a:extLst>
              <a:ext uri="{FF2B5EF4-FFF2-40B4-BE49-F238E27FC236}">
                <a16:creationId xmlns:a16="http://schemas.microsoft.com/office/drawing/2014/main" id="{33E2B86C-5E19-E863-EC42-7F0442FEE8A2}"/>
              </a:ext>
            </a:extLst>
          </p:cNvPr>
          <p:cNvSpPr/>
          <p:nvPr/>
        </p:nvSpPr>
        <p:spPr>
          <a:xfrm>
            <a:off x="6789977" y="3036661"/>
            <a:ext cx="504000" cy="432000"/>
          </a:xfrm>
          <a:prstGeom prst="triangle">
            <a:avLst/>
          </a:prstGeom>
          <a:solidFill>
            <a:srgbClr val="1F4E4A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noProof="0"/>
              <a:t>3</a:t>
            </a: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503B87FD-F861-4473-C077-B29129CC3FCE}"/>
              </a:ext>
            </a:extLst>
          </p:cNvPr>
          <p:cNvSpPr/>
          <p:nvPr/>
        </p:nvSpPr>
        <p:spPr>
          <a:xfrm>
            <a:off x="4919085" y="1616008"/>
            <a:ext cx="45719" cy="4979736"/>
          </a:xfrm>
          <a:prstGeom prst="roundRect">
            <a:avLst/>
          </a:prstGeom>
          <a:solidFill>
            <a:srgbClr val="8FA3A1"/>
          </a:solidFill>
          <a:ln>
            <a:solidFill>
              <a:srgbClr val="8FA3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FAF83E31-642E-DC9C-CE8F-EE16AD030CE4}"/>
              </a:ext>
            </a:extLst>
          </p:cNvPr>
          <p:cNvSpPr/>
          <p:nvPr/>
        </p:nvSpPr>
        <p:spPr>
          <a:xfrm>
            <a:off x="7467798" y="3434981"/>
            <a:ext cx="504000" cy="432000"/>
          </a:xfrm>
          <a:prstGeom prst="triangle">
            <a:avLst/>
          </a:prstGeom>
          <a:solidFill>
            <a:srgbClr val="1F4E4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noProof="0"/>
              <a:t>4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78E2D6CB-57FA-4268-1A7D-06541B6C0FCC}"/>
              </a:ext>
            </a:extLst>
          </p:cNvPr>
          <p:cNvSpPr txBox="1"/>
          <p:nvPr/>
        </p:nvSpPr>
        <p:spPr>
          <a:xfrm>
            <a:off x="5399891" y="5152381"/>
            <a:ext cx="5195482" cy="144655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b="1" noProof="0">
                <a:solidFill>
                  <a:srgbClr val="1F4E4A"/>
                </a:solidFill>
              </a:rPr>
              <a:t>How to read:</a:t>
            </a:r>
            <a:r>
              <a:rPr lang="en-US" sz="1200" noProof="0">
                <a:solidFill>
                  <a:srgbClr val="1F4E4A"/>
                </a:solidFill>
              </a:rPr>
              <a:t> </a:t>
            </a:r>
          </a:p>
          <a:p>
            <a:r>
              <a:rPr lang="en-US" sz="1200" b="1" noProof="0">
                <a:solidFill>
                  <a:srgbClr val="1F4E4A"/>
                </a:solidFill>
                <a:ea typeface="+mn-lt"/>
                <a:cs typeface="+mn-lt"/>
              </a:rPr>
              <a:t>Top-left gaps require immediate management action</a:t>
            </a:r>
            <a:r>
              <a:rPr lang="en-US" sz="1200" noProof="0">
                <a:solidFill>
                  <a:srgbClr val="1F4E4A"/>
                </a:solidFill>
                <a:ea typeface="+mn-lt"/>
                <a:cs typeface="+mn-lt"/>
              </a:rPr>
              <a:t>, while others are monitored or addressed structurally based on effort–impact trade-off.</a:t>
            </a:r>
            <a:endParaRPr lang="en-US" sz="1200" noProof="0">
              <a:solidFill>
                <a:srgbClr val="202124"/>
              </a:solidFill>
              <a:ea typeface="+mn-lt"/>
              <a:cs typeface="+mn-lt"/>
            </a:endParaRPr>
          </a:p>
          <a:p>
            <a:endParaRPr lang="en-US" sz="1200" noProof="0">
              <a:solidFill>
                <a:srgbClr val="1F4E4A"/>
              </a:solidFill>
              <a:ea typeface="+mn-lt"/>
              <a:cs typeface="+mn-lt"/>
            </a:endParaRPr>
          </a:p>
          <a:p>
            <a:r>
              <a:rPr lang="en-US" sz="1000" noProof="0">
                <a:solidFill>
                  <a:srgbClr val="8FA3A1"/>
                </a:solidFill>
                <a:ea typeface="+mn-lt"/>
                <a:cs typeface="+mn-lt"/>
              </a:rPr>
              <a:t>Execution gaps are ranked by </a:t>
            </a:r>
            <a:r>
              <a:rPr lang="en-US" sz="1000" b="1" noProof="0">
                <a:solidFill>
                  <a:srgbClr val="8FA3A1"/>
                </a:solidFill>
                <a:ea typeface="+mn-lt"/>
                <a:cs typeface="+mn-lt"/>
              </a:rPr>
              <a:t>frequency, delay impact (Δ TPT vs. Happy Path), and business risk</a:t>
            </a:r>
            <a:r>
              <a:rPr lang="en-US" sz="1000" noProof="0">
                <a:solidFill>
                  <a:srgbClr val="8FA3A1"/>
                </a:solidFill>
                <a:ea typeface="+mn-lt"/>
                <a:cs typeface="+mn-lt"/>
              </a:rPr>
              <a:t>.</a:t>
            </a:r>
            <a:endParaRPr lang="en-US" sz="1000" noProof="0">
              <a:solidFill>
                <a:srgbClr val="8FA3A1"/>
              </a:solidFill>
            </a:endParaRPr>
          </a:p>
          <a:p>
            <a:r>
              <a:rPr lang="en-US" sz="1000" noProof="0">
                <a:solidFill>
                  <a:srgbClr val="8FA3A1"/>
                </a:solidFill>
                <a:ea typeface="+mn-lt"/>
                <a:cs typeface="+mn-lt"/>
              </a:rPr>
              <a:t>The matrix positions gaps by </a:t>
            </a:r>
            <a:r>
              <a:rPr lang="en-US" sz="1000" b="1" noProof="0">
                <a:solidFill>
                  <a:srgbClr val="8FA3A1"/>
                </a:solidFill>
                <a:ea typeface="+mn-lt"/>
                <a:cs typeface="+mn-lt"/>
              </a:rPr>
              <a:t>business risk (Y-axis)</a:t>
            </a:r>
            <a:r>
              <a:rPr lang="en-US" sz="1000" noProof="0">
                <a:solidFill>
                  <a:srgbClr val="8FA3A1"/>
                </a:solidFill>
                <a:ea typeface="+mn-lt"/>
                <a:cs typeface="+mn-lt"/>
              </a:rPr>
              <a:t> and </a:t>
            </a:r>
            <a:r>
              <a:rPr lang="en-US" sz="1000" b="1" noProof="0">
                <a:solidFill>
                  <a:srgbClr val="8FA3A1"/>
                </a:solidFill>
                <a:ea typeface="+mn-lt"/>
                <a:cs typeface="+mn-lt"/>
              </a:rPr>
              <a:t>implementation effort (X-axis)</a:t>
            </a:r>
            <a:r>
              <a:rPr lang="en-US" sz="1000" noProof="0">
                <a:solidFill>
                  <a:srgbClr val="8FA3A1"/>
                </a:solidFill>
                <a:ea typeface="+mn-lt"/>
                <a:cs typeface="+mn-lt"/>
              </a:rPr>
              <a:t>; numbers refer to the ranked gaps.</a:t>
            </a:r>
            <a:endParaRPr lang="en-US" sz="1000" noProof="0">
              <a:solidFill>
                <a:srgbClr val="8FA3A1"/>
              </a:solidFill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6CF210C0-D950-0DD9-CC2D-C832C2AB06A3}"/>
              </a:ext>
            </a:extLst>
          </p:cNvPr>
          <p:cNvSpPr txBox="1"/>
          <p:nvPr/>
        </p:nvSpPr>
        <p:spPr>
          <a:xfrm>
            <a:off x="-50800" y="6551083"/>
            <a:ext cx="47498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b="1"/>
              <a:t>Enhancement Cycle Phase:</a:t>
            </a:r>
            <a:r>
              <a:rPr lang="en-GB" sz="800"/>
              <a:t> </a:t>
            </a:r>
            <a:r>
              <a:rPr lang="en-GB" sz="800" i="1"/>
              <a:t>Quantify Execution Gaps</a:t>
            </a:r>
            <a:endParaRPr lang="en-GB" sz="800" i="1">
              <a:solidFill>
                <a:srgbClr val="202124"/>
              </a:solidFill>
            </a:endParaRP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F9F4D8E-7A82-4F77-B8C9-2D40FA88AA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GB" b="1"/>
              <a:t>| 6 </a:t>
            </a:r>
          </a:p>
        </p:txBody>
      </p:sp>
    </p:spTree>
    <p:extLst>
      <p:ext uri="{BB962C8B-B14F-4D97-AF65-F5344CB8AC3E}">
        <p14:creationId xmlns:p14="http://schemas.microsoft.com/office/powerpoint/2010/main" val="11238214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BDFB6A-8E9D-BD70-DFF2-0F509E88A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311" y="661848"/>
            <a:ext cx="11097738" cy="965871"/>
          </a:xfrm>
        </p:spPr>
        <p:txBody>
          <a:bodyPr>
            <a:normAutofit fontScale="90000"/>
          </a:bodyPr>
          <a:lstStyle/>
          <a:p>
            <a:r>
              <a:rPr lang="en-GB" dirty="0"/>
              <a:t>Combining lateness, quantity deviations, value exposure, and frequency enables impact based prioritization</a:t>
            </a:r>
            <a:endParaRPr lang="en-US" noProof="0" dirty="0"/>
          </a:p>
        </p:txBody>
      </p:sp>
      <p:pic>
        <p:nvPicPr>
          <p:cNvPr id="4" name="Grafik 3" descr="Ein Bild, das Text, Screenshot, Design, Schrift enthält.&#10;&#10;KI-generierte Inhalte können fehlerhaft sein.">
            <a:extLst>
              <a:ext uri="{FF2B5EF4-FFF2-40B4-BE49-F238E27FC236}">
                <a16:creationId xmlns:a16="http://schemas.microsoft.com/office/drawing/2014/main" id="{021B605F-E5B4-6F82-8AD5-79CA58414C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3600" y="6244166"/>
            <a:ext cx="730250" cy="613834"/>
          </a:xfrm>
          <a:prstGeom prst="rect">
            <a:avLst/>
          </a:prstGeom>
        </p:spPr>
      </p:pic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05E93A33-94A3-C2F2-4AAC-53C121BE7E36}"/>
              </a:ext>
            </a:extLst>
          </p:cNvPr>
          <p:cNvSpPr/>
          <p:nvPr/>
        </p:nvSpPr>
        <p:spPr>
          <a:xfrm>
            <a:off x="5186681" y="1825615"/>
            <a:ext cx="45719" cy="4326319"/>
          </a:xfrm>
          <a:prstGeom prst="roundRect">
            <a:avLst/>
          </a:prstGeom>
          <a:solidFill>
            <a:srgbClr val="8FA3A1"/>
          </a:solidFill>
          <a:ln>
            <a:solidFill>
              <a:srgbClr val="8FA3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D97AA40E-AD17-9288-3463-8A7F8650B3C6}"/>
              </a:ext>
            </a:extLst>
          </p:cNvPr>
          <p:cNvSpPr txBox="1"/>
          <p:nvPr/>
        </p:nvSpPr>
        <p:spPr>
          <a:xfrm>
            <a:off x="351311" y="1655615"/>
            <a:ext cx="4511129" cy="353173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600" b="1" noProof="0"/>
              <a:t>Analytical Approach</a:t>
            </a:r>
          </a:p>
          <a:p>
            <a:endParaRPr lang="en-US" sz="1200" b="1" noProof="0"/>
          </a:p>
          <a:p>
            <a:r>
              <a:rPr lang="en-GB" sz="1100" b="1">
                <a:highlight>
                  <a:srgbClr val="5FB3A2"/>
                </a:highlight>
              </a:rPr>
              <a:t>We focus on attributes that jointly explain operational risk and business impact:</a:t>
            </a:r>
          </a:p>
          <a:p>
            <a:endParaRPr lang="en-GB" sz="1100"/>
          </a:p>
          <a:p>
            <a:r>
              <a:rPr lang="en-GB" sz="1050" b="1"/>
              <a:t>Delivery timeliness</a:t>
            </a:r>
            <a:br>
              <a:rPr lang="en-GB" sz="1050"/>
            </a:br>
            <a:r>
              <a:rPr lang="en-GB" sz="1050"/>
              <a:t>Identifies systemic execution instability and planning reliability issues.</a:t>
            </a:r>
          </a:p>
          <a:p>
            <a:r>
              <a:rPr lang="en-GB" sz="1050" b="1"/>
              <a:t>Quantity tolerance deviations</a:t>
            </a:r>
            <a:br>
              <a:rPr lang="en-GB" sz="1050"/>
            </a:br>
            <a:r>
              <a:rPr lang="en-GB" sz="1050"/>
              <a:t>Indicates late order changes and post-release rework beyond the controllable execution window.</a:t>
            </a:r>
          </a:p>
          <a:p>
            <a:r>
              <a:rPr lang="en-GB" sz="1050" b="1"/>
              <a:t>Value exposure</a:t>
            </a:r>
            <a:br>
              <a:rPr lang="en-GB" sz="1050"/>
            </a:br>
            <a:r>
              <a:rPr lang="en-GB" sz="1050"/>
              <a:t>Ensures management focus on deviations with material business impact.</a:t>
            </a:r>
          </a:p>
          <a:p>
            <a:r>
              <a:rPr lang="en-GB" sz="1050" b="1"/>
              <a:t>Frequency across orders</a:t>
            </a:r>
            <a:br>
              <a:rPr lang="en-GB" sz="1050"/>
            </a:br>
            <a:r>
              <a:rPr lang="en-GB" sz="1050"/>
              <a:t>Distinguishes isolated exceptions from recurring execution gaps.</a:t>
            </a:r>
          </a:p>
          <a:p>
            <a:endParaRPr lang="en-GB" sz="1050"/>
          </a:p>
          <a:p>
            <a:r>
              <a:rPr lang="en-GB" sz="1050" b="1"/>
              <a:t>These attributes allow us to separate stable execution from high-impact deviation patterns and prioritize management action.</a:t>
            </a:r>
            <a:endParaRPr lang="en-GB" sz="1050"/>
          </a:p>
          <a:p>
            <a:endParaRPr lang="en-US" sz="1600" b="1" noProof="0">
              <a:highlight>
                <a:srgbClr val="D8B35A"/>
              </a:highlight>
            </a:endParaRPr>
          </a:p>
          <a:p>
            <a:endParaRPr lang="en-US" sz="1000" noProof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531FD8E1-9382-6956-D409-E69BD271D90C}"/>
              </a:ext>
            </a:extLst>
          </p:cNvPr>
          <p:cNvSpPr txBox="1"/>
          <p:nvPr/>
        </p:nvSpPr>
        <p:spPr>
          <a:xfrm>
            <a:off x="5501891" y="5536381"/>
            <a:ext cx="6101482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b="1" noProof="0">
                <a:solidFill>
                  <a:srgbClr val="1F4E4A"/>
                </a:solidFill>
              </a:rPr>
              <a:t>How to read:</a:t>
            </a:r>
            <a:r>
              <a:rPr lang="en-US" sz="1200" noProof="0">
                <a:solidFill>
                  <a:srgbClr val="1F4E4A"/>
                </a:solidFill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noProof="0">
                <a:solidFill>
                  <a:srgbClr val="1F4E4A"/>
                </a:solidFill>
              </a:rPr>
              <a:t>X = Qty deviation rate, Y = Late rate, Bubble = value exposure;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000" i="1" noProof="0">
                <a:solidFill>
                  <a:srgbClr val="8FA3A1"/>
                </a:solidFill>
              </a:rPr>
              <a:t>lines = median of plotted segments</a:t>
            </a:r>
          </a:p>
        </p:txBody>
      </p:sp>
      <p:pic>
        <p:nvPicPr>
          <p:cNvPr id="12" name="Grafik 11" descr="Ein Bild, das Text, Screenshot, Diagramm, Zahl enthält.&#10;&#10;KI-generierte Inhalte können fehlerhaft sein.">
            <a:extLst>
              <a:ext uri="{FF2B5EF4-FFF2-40B4-BE49-F238E27FC236}">
                <a16:creationId xmlns:a16="http://schemas.microsoft.com/office/drawing/2014/main" id="{B4E0D219-25CB-1960-1DEA-CF28562891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6641" y="2138573"/>
            <a:ext cx="5629531" cy="3352212"/>
          </a:xfrm>
          <a:prstGeom prst="rect">
            <a:avLst/>
          </a:prstGeom>
        </p:spPr>
      </p:pic>
      <p:sp>
        <p:nvSpPr>
          <p:cNvPr id="16" name="Textfeld 15">
            <a:extLst>
              <a:ext uri="{FF2B5EF4-FFF2-40B4-BE49-F238E27FC236}">
                <a16:creationId xmlns:a16="http://schemas.microsoft.com/office/drawing/2014/main" id="{413ACC9B-0256-ED20-DD18-A4A12E577D84}"/>
              </a:ext>
            </a:extLst>
          </p:cNvPr>
          <p:cNvSpPr txBox="1"/>
          <p:nvPr/>
        </p:nvSpPr>
        <p:spPr>
          <a:xfrm>
            <a:off x="351311" y="4978620"/>
            <a:ext cx="4725278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noProof="0">
                <a:highlight>
                  <a:srgbClr val="D8B35A"/>
                </a:highlight>
              </a:rPr>
              <a:t>Assessment Priority Example: Customer Country</a:t>
            </a:r>
          </a:p>
          <a:p>
            <a:pPr>
              <a:buNone/>
            </a:pPr>
            <a:endParaRPr lang="en-US" sz="1000" noProof="0"/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000" b="1" noProof="0"/>
              <a:t>CH</a:t>
            </a:r>
            <a:r>
              <a:rPr lang="en-US" sz="1000" noProof="0"/>
              <a:t>: extreme late-rate outlier → timeliness-driven execution instability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000" b="1" noProof="0"/>
              <a:t>NL / ES</a:t>
            </a:r>
            <a:r>
              <a:rPr lang="en-US" sz="1000" noProof="0"/>
              <a:t>: elevated late rates with high value exposure → economically relevant patterns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000" b="1" noProof="0"/>
              <a:t>US</a:t>
            </a:r>
            <a:r>
              <a:rPr lang="en-US" sz="1000" noProof="0"/>
              <a:t>: high quantity deviation + delay exposure → post-release quantity corrections</a:t>
            </a:r>
          </a:p>
          <a:p>
            <a:r>
              <a:rPr lang="en-US" sz="1000" i="1" noProof="0">
                <a:solidFill>
                  <a:srgbClr val="8FA3A1"/>
                </a:solidFill>
              </a:rPr>
              <a:t>(DE/FR appear sizeable mainly due to baseline volume; they are treated as reference segments)</a:t>
            </a:r>
            <a:endParaRPr lang="en-US" sz="1100" noProof="0">
              <a:solidFill>
                <a:srgbClr val="8FA3A1"/>
              </a:solidFill>
            </a:endParaRP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2DB0E124-A287-04B8-7CC8-21298319E544}"/>
              </a:ext>
            </a:extLst>
          </p:cNvPr>
          <p:cNvSpPr txBox="1"/>
          <p:nvPr/>
        </p:nvSpPr>
        <p:spPr>
          <a:xfrm>
            <a:off x="5287243" y="1723125"/>
            <a:ext cx="61014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noProof="0">
                <a:highlight>
                  <a:srgbClr val="D8B35A"/>
                </a:highlight>
              </a:rPr>
              <a:t>Identified Assessment Priority Markets</a:t>
            </a:r>
            <a:endParaRPr lang="en-US" noProof="0">
              <a:highlight>
                <a:srgbClr val="D8B35A"/>
              </a:highlight>
            </a:endParaRPr>
          </a:p>
        </p:txBody>
      </p:sp>
      <p:sp>
        <p:nvSpPr>
          <p:cNvPr id="19" name="Gleichschenkliges Dreieck 18">
            <a:extLst>
              <a:ext uri="{FF2B5EF4-FFF2-40B4-BE49-F238E27FC236}">
                <a16:creationId xmlns:a16="http://schemas.microsoft.com/office/drawing/2014/main" id="{9C23276A-D8E4-00B8-326C-3D992C255EDC}"/>
              </a:ext>
            </a:extLst>
          </p:cNvPr>
          <p:cNvSpPr/>
          <p:nvPr/>
        </p:nvSpPr>
        <p:spPr>
          <a:xfrm>
            <a:off x="9440029" y="3153288"/>
            <a:ext cx="486803" cy="440754"/>
          </a:xfrm>
          <a:prstGeom prst="triangle">
            <a:avLst/>
          </a:prstGeom>
          <a:noFill/>
          <a:ln>
            <a:solidFill>
              <a:srgbClr val="D8B3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0" name="Gleichschenkliges Dreieck 19">
            <a:extLst>
              <a:ext uri="{FF2B5EF4-FFF2-40B4-BE49-F238E27FC236}">
                <a16:creationId xmlns:a16="http://schemas.microsoft.com/office/drawing/2014/main" id="{DFFFF330-C8AF-D697-CD1C-8895E6CC0C07}"/>
              </a:ext>
            </a:extLst>
          </p:cNvPr>
          <p:cNvSpPr/>
          <p:nvPr/>
        </p:nvSpPr>
        <p:spPr>
          <a:xfrm>
            <a:off x="7053159" y="2264072"/>
            <a:ext cx="486803" cy="440754"/>
          </a:xfrm>
          <a:prstGeom prst="triangle">
            <a:avLst/>
          </a:prstGeom>
          <a:noFill/>
          <a:ln>
            <a:solidFill>
              <a:srgbClr val="D8B3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1" name="Gleichschenkliges Dreieck 20">
            <a:extLst>
              <a:ext uri="{FF2B5EF4-FFF2-40B4-BE49-F238E27FC236}">
                <a16:creationId xmlns:a16="http://schemas.microsoft.com/office/drawing/2014/main" id="{B3A470AA-80A5-097B-93EE-9D74BB621B5C}"/>
              </a:ext>
            </a:extLst>
          </p:cNvPr>
          <p:cNvSpPr/>
          <p:nvPr/>
        </p:nvSpPr>
        <p:spPr>
          <a:xfrm>
            <a:off x="9874204" y="3226294"/>
            <a:ext cx="486803" cy="440754"/>
          </a:xfrm>
          <a:prstGeom prst="triangle">
            <a:avLst/>
          </a:prstGeom>
          <a:noFill/>
          <a:ln>
            <a:solidFill>
              <a:srgbClr val="D8B3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2" name="Gleichschenkliges Dreieck 21">
            <a:extLst>
              <a:ext uri="{FF2B5EF4-FFF2-40B4-BE49-F238E27FC236}">
                <a16:creationId xmlns:a16="http://schemas.microsoft.com/office/drawing/2014/main" id="{E7BF8BD2-3330-DB2E-1B7A-16F73DC65116}"/>
              </a:ext>
            </a:extLst>
          </p:cNvPr>
          <p:cNvSpPr/>
          <p:nvPr/>
        </p:nvSpPr>
        <p:spPr>
          <a:xfrm>
            <a:off x="10441846" y="3667048"/>
            <a:ext cx="486803" cy="440754"/>
          </a:xfrm>
          <a:prstGeom prst="triangle">
            <a:avLst/>
          </a:prstGeom>
          <a:noFill/>
          <a:ln>
            <a:solidFill>
              <a:srgbClr val="D8B3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1D331C7D-453C-0634-2DAA-B07E7E91D31A}"/>
              </a:ext>
            </a:extLst>
          </p:cNvPr>
          <p:cNvSpPr txBox="1"/>
          <p:nvPr/>
        </p:nvSpPr>
        <p:spPr>
          <a:xfrm>
            <a:off x="6620285" y="4323949"/>
            <a:ext cx="13525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noProof="0">
                <a:solidFill>
                  <a:srgbClr val="5FB3A2"/>
                </a:solidFill>
              </a:rPr>
              <a:t>Stable execution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19D5E520-F916-AD9C-93B6-0193BA056DC3}"/>
              </a:ext>
            </a:extLst>
          </p:cNvPr>
          <p:cNvSpPr txBox="1"/>
          <p:nvPr/>
        </p:nvSpPr>
        <p:spPr>
          <a:xfrm>
            <a:off x="6467884" y="2791465"/>
            <a:ext cx="22782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noProof="0">
                <a:solidFill>
                  <a:srgbClr val="5FB3A2"/>
                </a:solidFill>
              </a:rPr>
              <a:t>Timeliness-driven instability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2FA1A2E9-35B7-E54E-D350-3E99AD2321D7}"/>
              </a:ext>
            </a:extLst>
          </p:cNvPr>
          <p:cNvSpPr txBox="1"/>
          <p:nvPr/>
        </p:nvSpPr>
        <p:spPr>
          <a:xfrm>
            <a:off x="9332697" y="2789262"/>
            <a:ext cx="185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noProof="0">
                <a:solidFill>
                  <a:srgbClr val="5FB3A2"/>
                </a:solidFill>
              </a:rPr>
              <a:t>High severity deviations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453C434D-BAF6-BBC3-7F12-CFDF84C8D321}"/>
              </a:ext>
            </a:extLst>
          </p:cNvPr>
          <p:cNvSpPr txBox="1"/>
          <p:nvPr/>
        </p:nvSpPr>
        <p:spPr>
          <a:xfrm>
            <a:off x="9228569" y="4323949"/>
            <a:ext cx="195760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noProof="0">
                <a:solidFill>
                  <a:srgbClr val="5FB3A2"/>
                </a:solidFill>
              </a:rPr>
              <a:t>Quantity-driven corrections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1857CCD9-8743-1E23-0D73-48174BFAF75C}"/>
              </a:ext>
            </a:extLst>
          </p:cNvPr>
          <p:cNvSpPr txBox="1"/>
          <p:nvPr/>
        </p:nvSpPr>
        <p:spPr>
          <a:xfrm>
            <a:off x="-50800" y="6551083"/>
            <a:ext cx="47498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b="1"/>
              <a:t>Enhancement Cycle Phase:</a:t>
            </a:r>
            <a:r>
              <a:rPr lang="en-GB" sz="800"/>
              <a:t> </a:t>
            </a:r>
            <a:r>
              <a:rPr lang="en-GB" sz="800" i="1" err="1"/>
              <a:t>Analyze</a:t>
            </a:r>
            <a:r>
              <a:rPr lang="en-GB" sz="800" i="1"/>
              <a:t> Drivers</a:t>
            </a:r>
            <a:endParaRPr lang="en-GB" sz="800" i="1">
              <a:solidFill>
                <a:srgbClr val="202124"/>
              </a:solidFill>
            </a:endParaRP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8C8A63A0-B418-CD05-92D8-215A3EF90E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GB" b="1"/>
              <a:t>| 7 </a:t>
            </a:r>
          </a:p>
        </p:txBody>
      </p:sp>
    </p:spTree>
    <p:extLst>
      <p:ext uri="{BB962C8B-B14F-4D97-AF65-F5344CB8AC3E}">
        <p14:creationId xmlns:p14="http://schemas.microsoft.com/office/powerpoint/2010/main" val="2627814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A29573-077A-7080-A4D3-D812716D7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293" y="85161"/>
            <a:ext cx="11145363" cy="965871"/>
          </a:xfrm>
        </p:spPr>
        <p:txBody>
          <a:bodyPr>
            <a:noAutofit/>
          </a:bodyPr>
          <a:lstStyle/>
          <a:p>
            <a:r>
              <a:rPr lang="en-GB" sz="3200" dirty="0"/>
              <a:t>Post loading quantity corrections affect few orders but drive disproportionate delay and value exposure</a:t>
            </a:r>
            <a:endParaRPr lang="de-DE" sz="3200" dirty="0"/>
          </a:p>
        </p:txBody>
      </p:sp>
      <p:pic>
        <p:nvPicPr>
          <p:cNvPr id="4" name="Grafik 3" descr="Ein Bild, das Text, Screenshot, Design, Schrift enthält.&#10;&#10;KI-generierte Inhalte können fehlerhaft sein.">
            <a:extLst>
              <a:ext uri="{FF2B5EF4-FFF2-40B4-BE49-F238E27FC236}">
                <a16:creationId xmlns:a16="http://schemas.microsoft.com/office/drawing/2014/main" id="{A3CA0D09-09FE-AE0B-C9B8-EE0BAA40CA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3600" y="6244166"/>
            <a:ext cx="730250" cy="613834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E9DF2B2A-A855-CB84-3FDD-44A803C65920}"/>
              </a:ext>
            </a:extLst>
          </p:cNvPr>
          <p:cNvSpPr txBox="1"/>
          <p:nvPr/>
        </p:nvSpPr>
        <p:spPr>
          <a:xfrm>
            <a:off x="317293" y="977448"/>
            <a:ext cx="737643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noProof="0" dirty="0"/>
              <a:t>GAP DEFINITION:</a:t>
            </a:r>
            <a:r>
              <a:rPr lang="en-US" noProof="0" dirty="0"/>
              <a:t> Quantity is changed </a:t>
            </a:r>
            <a:r>
              <a:rPr lang="en-US" b="1" i="1" noProof="0" dirty="0"/>
              <a:t>after </a:t>
            </a:r>
            <a:r>
              <a:rPr lang="en-US" noProof="0" dirty="0"/>
              <a:t>shipment was loaded. 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EF71A22E-36FD-171C-A5F0-6EC1D8B72994}"/>
              </a:ext>
            </a:extLst>
          </p:cNvPr>
          <p:cNvSpPr txBox="1"/>
          <p:nvPr/>
        </p:nvSpPr>
        <p:spPr>
          <a:xfrm>
            <a:off x="1319099" y="1723962"/>
            <a:ext cx="4199383" cy="18063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noProof="0" dirty="0">
                <a:solidFill>
                  <a:srgbClr val="202124"/>
                </a:solidFill>
                <a:highlight>
                  <a:srgbClr val="5FB3A2"/>
                </a:highlight>
              </a:rPr>
              <a:t>Urgency</a:t>
            </a:r>
            <a:endParaRPr lang="en-US" noProof="0" dirty="0">
              <a:highlight>
                <a:srgbClr val="5FB3A2"/>
              </a:highlight>
            </a:endParaRP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Arial" panose="020B0604020202020204" pitchFamily="34" charset="0"/>
              </a:rPr>
              <a:t>affects ~28% of processes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Arial" panose="020B0604020202020204" pitchFamily="34" charset="0"/>
              </a:rPr>
              <a:t>represents ~46% of ordered value</a:t>
            </a:r>
            <a:endParaRPr lang="en-US" sz="1600" noProof="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noProof="0" dirty="0">
                <a:highlight>
                  <a:srgbClr val="D8B35A"/>
                </a:highlight>
              </a:rPr>
              <a:t>Difference in median TPT: </a:t>
            </a:r>
            <a:r>
              <a:rPr lang="en-US" sz="1600" b="1" noProof="0" dirty="0">
                <a:highlight>
                  <a:srgbClr val="D8B35A"/>
                </a:highlight>
              </a:rPr>
              <a:t>+ 11 days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02124"/>
                </a:solidFill>
              </a:rPr>
              <a:t>Hits high-value orders harder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60481DF1-EA62-EA0A-D82A-1BBDCC1FBC5D}"/>
              </a:ext>
            </a:extLst>
          </p:cNvPr>
          <p:cNvSpPr txBox="1"/>
          <p:nvPr/>
        </p:nvSpPr>
        <p:spPr>
          <a:xfrm>
            <a:off x="1319099" y="3606554"/>
            <a:ext cx="4199383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noProof="0" dirty="0">
                <a:solidFill>
                  <a:srgbClr val="202124"/>
                </a:solidFill>
              </a:rPr>
              <a:t>Factory</a:t>
            </a:r>
            <a:endParaRPr lang="en-US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aseline="0" noProof="0" dirty="0">
                <a:solidFill>
                  <a:srgbClr val="202124"/>
                </a:solidFill>
              </a:rPr>
              <a:t>Mostly in </a:t>
            </a:r>
            <a:r>
              <a:rPr lang="en-US" sz="1600" b="1" baseline="0" noProof="0" dirty="0">
                <a:solidFill>
                  <a:srgbClr val="202124"/>
                </a:solidFill>
              </a:rPr>
              <a:t>Essen (63,61%)</a:t>
            </a:r>
            <a:endParaRPr lang="en-US" sz="1600" b="1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noProof="0" dirty="0"/>
              <a:t>Bonn </a:t>
            </a:r>
            <a:r>
              <a:rPr lang="en-US" sz="1600" noProof="0" dirty="0"/>
              <a:t>is also overrepresented</a:t>
            </a:r>
            <a:r>
              <a:rPr lang="en-US" sz="1600" b="1" noProof="0" dirty="0"/>
              <a:t> (10,77% vs. </a:t>
            </a:r>
            <a:r>
              <a:rPr lang="en-US" sz="1600" b="1" dirty="0"/>
              <a:t>5,84</a:t>
            </a:r>
            <a:r>
              <a:rPr lang="en-US" sz="1600" b="1" noProof="0" dirty="0"/>
              <a:t>%)</a:t>
            </a:r>
          </a:p>
          <a:p>
            <a:pPr algn="ctr"/>
            <a:endParaRPr lang="en-US" noProof="0" dirty="0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D39E1751-D864-7697-51A5-B5C31A040A42}"/>
              </a:ext>
            </a:extLst>
          </p:cNvPr>
          <p:cNvSpPr txBox="1"/>
          <p:nvPr/>
        </p:nvSpPr>
        <p:spPr>
          <a:xfrm>
            <a:off x="8012471" y="1764695"/>
            <a:ext cx="323850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1400" b="1" dirty="0">
                <a:solidFill>
                  <a:srgbClr val="202124"/>
                </a:solidFill>
              </a:rPr>
              <a:t>Product type distribution of post-loading quantity corrections</a:t>
            </a:r>
            <a:endParaRPr lang="de-DE" sz="1100" b="1" dirty="0">
              <a:solidFill>
                <a:srgbClr val="202124"/>
              </a:solidFill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EBD16229-C9B3-8634-A829-3550D09EDB6D}"/>
              </a:ext>
            </a:extLst>
          </p:cNvPr>
          <p:cNvSpPr txBox="1"/>
          <p:nvPr/>
        </p:nvSpPr>
        <p:spPr>
          <a:xfrm>
            <a:off x="1331648" y="4631706"/>
            <a:ext cx="4199383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>
                <a:solidFill>
                  <a:srgbClr val="202124"/>
                </a:solidFill>
              </a:rPr>
              <a:t>Customer</a:t>
            </a:r>
            <a:endParaRPr lang="en-US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202124"/>
                </a:solidFill>
              </a:rPr>
              <a:t>Brand AG</a:t>
            </a:r>
            <a:r>
              <a:rPr lang="en-US" sz="1600" dirty="0">
                <a:solidFill>
                  <a:srgbClr val="202124"/>
                </a:solidFill>
              </a:rPr>
              <a:t> is overrepresented </a:t>
            </a:r>
            <a:r>
              <a:rPr lang="en-US" sz="1600" b="1" dirty="0">
                <a:solidFill>
                  <a:srgbClr val="202124"/>
                </a:solidFill>
              </a:rPr>
              <a:t>(20,63%)</a:t>
            </a:r>
            <a:endParaRPr lang="en-US" sz="1600" b="1" noProof="0" dirty="0"/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2F1F2400-AE14-13FF-B6DE-35BD35E0E466}"/>
              </a:ext>
            </a:extLst>
          </p:cNvPr>
          <p:cNvSpPr/>
          <p:nvPr/>
        </p:nvSpPr>
        <p:spPr>
          <a:xfrm>
            <a:off x="7003235" y="1839222"/>
            <a:ext cx="45719" cy="4326319"/>
          </a:xfrm>
          <a:prstGeom prst="roundRect">
            <a:avLst/>
          </a:prstGeom>
          <a:solidFill>
            <a:srgbClr val="8FA3A1"/>
          </a:solidFill>
          <a:ln>
            <a:solidFill>
              <a:srgbClr val="8FA3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FF4B6E15-DBEF-EB1B-220B-AEFD7C012876}"/>
              </a:ext>
            </a:extLst>
          </p:cNvPr>
          <p:cNvSpPr txBox="1"/>
          <p:nvPr/>
        </p:nvSpPr>
        <p:spPr>
          <a:xfrm>
            <a:off x="-50800" y="6551083"/>
            <a:ext cx="47498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b="1"/>
              <a:t>Enhancement Cycle Phase:</a:t>
            </a:r>
            <a:r>
              <a:rPr lang="en-GB" sz="800"/>
              <a:t> </a:t>
            </a:r>
            <a:r>
              <a:rPr lang="en-GB" sz="800" i="1" err="1"/>
              <a:t>Analyze</a:t>
            </a:r>
            <a:r>
              <a:rPr lang="en-GB" sz="800" i="1"/>
              <a:t> Drivers</a:t>
            </a:r>
            <a:endParaRPr lang="en-GB" sz="800" i="1">
              <a:solidFill>
                <a:srgbClr val="202124"/>
              </a:solidFill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9833D217-9DE7-0551-156A-D1F506B5FA0D}"/>
              </a:ext>
            </a:extLst>
          </p:cNvPr>
          <p:cNvSpPr txBox="1"/>
          <p:nvPr/>
        </p:nvSpPr>
        <p:spPr>
          <a:xfrm>
            <a:off x="8011869" y="5401072"/>
            <a:ext cx="3239102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b="1" noProof="0" dirty="0">
                <a:solidFill>
                  <a:srgbClr val="1F4E4A"/>
                </a:solidFill>
              </a:rPr>
              <a:t>How to read:</a:t>
            </a:r>
            <a:r>
              <a:rPr lang="en-US" sz="1200" dirty="0">
                <a:solidFill>
                  <a:srgbClr val="1F4E4A"/>
                </a:solidFill>
              </a:rPr>
              <a:t> </a:t>
            </a:r>
            <a:r>
              <a:rPr lang="en-GB" sz="1200" dirty="0">
                <a:solidFill>
                  <a:srgbClr val="1F4E4A"/>
                </a:solidFill>
              </a:rPr>
              <a:t>Post-loading quantity corrections mainly affect crate production and the transportation customer segment.</a:t>
            </a:r>
            <a:endParaRPr lang="en-US" sz="1200" noProof="0" dirty="0">
              <a:solidFill>
                <a:srgbClr val="1F4E4A"/>
              </a:solidFill>
            </a:endParaRP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C4A0CD37-9F92-4E71-44F1-028D8423EA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GB" b="1"/>
              <a:t>| 8 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8604DD8A-607B-58B2-43D4-B2844692A19C}"/>
              </a:ext>
            </a:extLst>
          </p:cNvPr>
          <p:cNvSpPr txBox="1"/>
          <p:nvPr/>
        </p:nvSpPr>
        <p:spPr>
          <a:xfrm>
            <a:off x="509384" y="5534780"/>
            <a:ext cx="5664622" cy="70788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>
              <a:buNone/>
            </a:pPr>
            <a:r>
              <a:rPr lang="en-US" sz="1600" b="1" noProof="0" dirty="0">
                <a:solidFill>
                  <a:srgbClr val="202124"/>
                </a:solidFill>
              </a:rPr>
              <a:t>Key Message</a:t>
            </a:r>
          </a:p>
          <a:p>
            <a:r>
              <a:rPr lang="en-US" sz="1200" dirty="0">
                <a:solidFill>
                  <a:srgbClr val="202124"/>
                </a:solidFill>
              </a:rPr>
              <a:t>This execution</a:t>
            </a:r>
            <a:r>
              <a:rPr lang="en-US" sz="1200" dirty="0">
                <a:solidFill>
                  <a:srgbClr val="202124"/>
                </a:solidFill>
                <a:ea typeface="+mn-lt"/>
                <a:cs typeface="+mn-lt"/>
              </a:rPr>
              <a:t> gap is very impactful and mostly rooted in high value orders, concentrated on both particular customers and factories.</a:t>
            </a:r>
            <a:endParaRPr lang="en-US" sz="1200" dirty="0">
              <a:solidFill>
                <a:srgbClr val="202124"/>
              </a:solidFill>
            </a:endParaRPr>
          </a:p>
        </p:txBody>
      </p:sp>
      <p:pic>
        <p:nvPicPr>
          <p:cNvPr id="6" name="Grafik 5" descr="Ein Bild, das Kreis, Screenshot, Grafiken, Diagramm enthält.&#10;&#10;KI-generierte Inhalte können fehlerhaft sein.">
            <a:extLst>
              <a:ext uri="{FF2B5EF4-FFF2-40B4-BE49-F238E27FC236}">
                <a16:creationId xmlns:a16="http://schemas.microsoft.com/office/drawing/2014/main" id="{06CB7948-B783-0D6A-3BE0-2DF02DC200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2061" y="2285230"/>
            <a:ext cx="3240959" cy="3117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1444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9B89C-8918-2D7D-E1F8-FBE3198F5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F53F68-EEE5-B7E7-CFFD-54A55E307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293" y="105571"/>
            <a:ext cx="11145363" cy="965871"/>
          </a:xfrm>
        </p:spPr>
        <p:txBody>
          <a:bodyPr>
            <a:noAutofit/>
          </a:bodyPr>
          <a:lstStyle/>
          <a:p>
            <a:r>
              <a:rPr lang="en-GB" sz="3200" dirty="0"/>
              <a:t>Credit blocks create severe delays for a relevant share of orders but lack a single dominant root cause</a:t>
            </a:r>
            <a:endParaRPr lang="en-US" sz="3200" noProof="0" dirty="0"/>
          </a:p>
        </p:txBody>
      </p:sp>
      <p:pic>
        <p:nvPicPr>
          <p:cNvPr id="4" name="Grafik 3" descr="Ein Bild, das Text, Screenshot, Design, Schrift enthält.&#10;&#10;KI-generierte Inhalte können fehlerhaft sein.">
            <a:extLst>
              <a:ext uri="{FF2B5EF4-FFF2-40B4-BE49-F238E27FC236}">
                <a16:creationId xmlns:a16="http://schemas.microsoft.com/office/drawing/2014/main" id="{E0E9E0D5-FABB-5FFE-943D-78459C3714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3600" y="6244166"/>
            <a:ext cx="730250" cy="613834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CA48C208-9D55-43CA-980D-D1588F0C2FC2}"/>
              </a:ext>
            </a:extLst>
          </p:cNvPr>
          <p:cNvSpPr txBox="1"/>
          <p:nvPr/>
        </p:nvSpPr>
        <p:spPr>
          <a:xfrm>
            <a:off x="353785" y="945696"/>
            <a:ext cx="737643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noProof="0" dirty="0"/>
              <a:t>GAP DEFINITION:</a:t>
            </a:r>
            <a:r>
              <a:rPr lang="en-US" noProof="0" dirty="0"/>
              <a:t> Credit order is being blocked </a:t>
            </a:r>
            <a:r>
              <a:rPr lang="en-US" b="1" i="1" noProof="0" dirty="0"/>
              <a:t>at least once</a:t>
            </a:r>
            <a:r>
              <a:rPr lang="en-US" noProof="0" dirty="0"/>
              <a:t>. 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7721F51E-09EB-E502-A519-C207B3FAF81B}"/>
              </a:ext>
            </a:extLst>
          </p:cNvPr>
          <p:cNvSpPr txBox="1"/>
          <p:nvPr/>
        </p:nvSpPr>
        <p:spPr>
          <a:xfrm>
            <a:off x="6272407" y="3229216"/>
            <a:ext cx="4680858" cy="13542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baseline="0" dirty="0">
                <a:solidFill>
                  <a:srgbClr val="202124"/>
                </a:solidFill>
                <a:latin typeface="IBM Plex Sans"/>
                <a:ea typeface="Segoe UI"/>
                <a:cs typeface="Segoe UI"/>
              </a:rPr>
              <a:t>Customer</a:t>
            </a:r>
            <a:r>
              <a:rPr lang="en-US" b="1" dirty="0">
                <a:solidFill>
                  <a:srgbClr val="202124"/>
                </a:solidFill>
                <a:latin typeface="IBM Plex Sans"/>
                <a:ea typeface="Segoe UI"/>
                <a:cs typeface="Segoe UI"/>
              </a:rPr>
              <a:t> Country</a:t>
            </a:r>
            <a:endParaRPr lang="en-US" dirty="0">
              <a:solidFill>
                <a:srgbClr val="202124"/>
              </a:solidFill>
              <a:latin typeface="IBM Plex Sans"/>
              <a:ea typeface="Segoe UI"/>
              <a:cs typeface="Segoe UI"/>
            </a:endParaRPr>
          </a:p>
          <a:p>
            <a:r>
              <a:rPr lang="en-US" sz="1600" dirty="0">
                <a:solidFill>
                  <a:srgbClr val="202124"/>
                </a:solidFill>
                <a:latin typeface="IBM Plex Sans"/>
                <a:ea typeface="Arial"/>
                <a:cs typeface="Segoe UI"/>
              </a:rPr>
              <a:t>Nothing unusual, except for some slight overrepresentations </a:t>
            </a:r>
            <a:r>
              <a:rPr lang="en-US" sz="1600" b="1" dirty="0">
                <a:solidFill>
                  <a:srgbClr val="202124"/>
                </a:solidFill>
                <a:latin typeface="IBM Plex Sans"/>
                <a:ea typeface="Arial"/>
                <a:cs typeface="Segoe UI"/>
              </a:rPr>
              <a:t>(France, Netherlands)</a:t>
            </a:r>
            <a:r>
              <a:rPr lang="en-US" sz="1600" dirty="0">
                <a:solidFill>
                  <a:srgbClr val="202124"/>
                </a:solidFill>
                <a:latin typeface="IBM Plex Sans"/>
                <a:ea typeface="Arial"/>
                <a:cs typeface="Segoe UI"/>
              </a:rPr>
              <a:t>. Generally everything outside the EU is slightly overrepresented.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68641FA9-9E2A-CD4B-D60F-5C9D1F8910F5}"/>
              </a:ext>
            </a:extLst>
          </p:cNvPr>
          <p:cNvSpPr txBox="1"/>
          <p:nvPr/>
        </p:nvSpPr>
        <p:spPr>
          <a:xfrm>
            <a:off x="6272407" y="2022774"/>
            <a:ext cx="4321847" cy="10677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noProof="0" dirty="0">
                <a:solidFill>
                  <a:srgbClr val="202124"/>
                </a:solidFill>
                <a:highlight>
                  <a:srgbClr val="5FB3A2"/>
                </a:highlight>
              </a:rPr>
              <a:t>Urgency</a:t>
            </a:r>
            <a:endParaRPr lang="en-US" noProof="0" dirty="0">
              <a:solidFill>
                <a:srgbClr val="202124"/>
              </a:solidFill>
              <a:highlight>
                <a:srgbClr val="5FB3A2"/>
              </a:highlight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02124"/>
                </a:solidFill>
              </a:rPr>
              <a:t>Affects</a:t>
            </a:r>
            <a:r>
              <a:rPr lang="en-US" sz="1600" noProof="0" dirty="0">
                <a:solidFill>
                  <a:srgbClr val="202124"/>
                </a:solidFill>
              </a:rPr>
              <a:t> </a:t>
            </a:r>
            <a:r>
              <a:rPr lang="en-US" sz="1600" b="1" noProof="0" dirty="0">
                <a:solidFill>
                  <a:srgbClr val="202124"/>
                </a:solidFill>
              </a:rPr>
              <a:t>~</a:t>
            </a:r>
            <a:r>
              <a:rPr lang="en-US" sz="1600" b="1" dirty="0">
                <a:solidFill>
                  <a:srgbClr val="202124"/>
                </a:solidFill>
              </a:rPr>
              <a:t>10,05</a:t>
            </a:r>
            <a:r>
              <a:rPr lang="en-US" sz="1600" b="1" noProof="0" dirty="0">
                <a:solidFill>
                  <a:srgbClr val="202124"/>
                </a:solidFill>
              </a:rPr>
              <a:t>%</a:t>
            </a:r>
            <a:r>
              <a:rPr lang="en-US" sz="1600" noProof="0" dirty="0">
                <a:solidFill>
                  <a:srgbClr val="202124"/>
                </a:solidFill>
              </a:rPr>
              <a:t> of all processes</a:t>
            </a:r>
            <a:endParaRPr lang="en-US" sz="1600" noProof="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noProof="0" dirty="0">
                <a:highlight>
                  <a:srgbClr val="D8B35A"/>
                </a:highlight>
              </a:rPr>
              <a:t>Difference in median TPT: </a:t>
            </a:r>
            <a:r>
              <a:rPr lang="en-US" sz="1600" b="1" dirty="0">
                <a:highlight>
                  <a:srgbClr val="D8B35A"/>
                </a:highlight>
              </a:rPr>
              <a:t>+</a:t>
            </a:r>
            <a:r>
              <a:rPr lang="en-US" sz="1600" b="1" noProof="0" dirty="0">
                <a:highlight>
                  <a:srgbClr val="D8B35A"/>
                </a:highlight>
              </a:rPr>
              <a:t> </a:t>
            </a:r>
            <a:r>
              <a:rPr lang="en-US" sz="1600" b="1" dirty="0">
                <a:highlight>
                  <a:srgbClr val="D8B35A"/>
                </a:highlight>
              </a:rPr>
              <a:t>19,5</a:t>
            </a:r>
            <a:r>
              <a:rPr lang="en-US" sz="1600" b="1" noProof="0" dirty="0">
                <a:highlight>
                  <a:srgbClr val="D8B35A"/>
                </a:highlight>
              </a:rPr>
              <a:t> days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594EE15E-62AB-4793-C12C-9462FF2CB031}"/>
              </a:ext>
            </a:extLst>
          </p:cNvPr>
          <p:cNvSpPr txBox="1"/>
          <p:nvPr/>
        </p:nvSpPr>
        <p:spPr>
          <a:xfrm>
            <a:off x="177531" y="2392514"/>
            <a:ext cx="4822745" cy="523220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1400" b="1" dirty="0"/>
              <a:t>Customer distribution for orders with credit order blocks</a:t>
            </a:r>
            <a:endParaRPr lang="de-DE" sz="1400" b="1" dirty="0"/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93AF7C37-7EE6-1DA4-3C24-3461EFFD1B3A}"/>
              </a:ext>
            </a:extLst>
          </p:cNvPr>
          <p:cNvSpPr/>
          <p:nvPr/>
        </p:nvSpPr>
        <p:spPr>
          <a:xfrm>
            <a:off x="5339081" y="1978015"/>
            <a:ext cx="45719" cy="4326319"/>
          </a:xfrm>
          <a:prstGeom prst="roundRect">
            <a:avLst/>
          </a:prstGeom>
          <a:solidFill>
            <a:srgbClr val="8FA3A1"/>
          </a:solidFill>
          <a:ln>
            <a:solidFill>
              <a:srgbClr val="8FA3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C78B8731-0E22-9DD2-5A3E-EAA58EDAF872}"/>
              </a:ext>
            </a:extLst>
          </p:cNvPr>
          <p:cNvSpPr txBox="1"/>
          <p:nvPr/>
        </p:nvSpPr>
        <p:spPr>
          <a:xfrm>
            <a:off x="-69850" y="6536985"/>
            <a:ext cx="47498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b="1"/>
              <a:t>Enhancement Cycle Phase:</a:t>
            </a:r>
            <a:r>
              <a:rPr lang="en-GB" sz="800"/>
              <a:t> </a:t>
            </a:r>
            <a:r>
              <a:rPr lang="en-GB" sz="800" i="1" err="1"/>
              <a:t>Analyze</a:t>
            </a:r>
            <a:r>
              <a:rPr lang="en-GB" sz="800" i="1"/>
              <a:t> Drivers</a:t>
            </a:r>
            <a:endParaRPr lang="en-GB" sz="800" i="1">
              <a:solidFill>
                <a:srgbClr val="202124"/>
              </a:solidFill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03AFD79F-4D66-C059-A9B9-39D6D5EE4B3B}"/>
              </a:ext>
            </a:extLst>
          </p:cNvPr>
          <p:cNvSpPr txBox="1"/>
          <p:nvPr/>
        </p:nvSpPr>
        <p:spPr>
          <a:xfrm>
            <a:off x="6091729" y="4928102"/>
            <a:ext cx="4861535" cy="141577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>
              <a:buNone/>
            </a:pPr>
            <a:r>
              <a:rPr lang="en-US" sz="1600" b="1" noProof="0" dirty="0">
                <a:solidFill>
                  <a:srgbClr val="202124"/>
                </a:solidFill>
              </a:rPr>
              <a:t>Key Message</a:t>
            </a:r>
          </a:p>
          <a:p>
            <a:r>
              <a:rPr lang="en-GB" sz="1400" dirty="0"/>
              <a:t>This execution gap is impactful but lacks a clear root cause.</a:t>
            </a:r>
          </a:p>
          <a:p>
            <a:br>
              <a:rPr lang="en-GB" sz="1400" dirty="0"/>
            </a:br>
            <a:r>
              <a:rPr lang="en-GB" sz="1400" dirty="0"/>
              <a:t>The broad customer distribution points to a systemic issue affecting smaller or infrequent buyers.</a:t>
            </a:r>
            <a:endParaRPr lang="en-US" sz="1400" dirty="0">
              <a:solidFill>
                <a:srgbClr val="202124"/>
              </a:solidFill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05BFE35F-0788-B872-F1C8-19C65B8F5B5E}"/>
              </a:ext>
            </a:extLst>
          </p:cNvPr>
          <p:cNvSpPr txBox="1"/>
          <p:nvPr/>
        </p:nvSpPr>
        <p:spPr>
          <a:xfrm>
            <a:off x="1034122" y="4852060"/>
            <a:ext cx="3362005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b="1" noProof="0" dirty="0">
                <a:solidFill>
                  <a:srgbClr val="1F4E4A"/>
                </a:solidFill>
              </a:rPr>
              <a:t>How to read: </a:t>
            </a:r>
            <a:r>
              <a:rPr lang="en-US" sz="1200" noProof="0" dirty="0">
                <a:solidFill>
                  <a:srgbClr val="1F4E4A"/>
                </a:solidFill>
              </a:rPr>
              <a:t>Customer impact is broadly distributed with no dominant customer segment.</a:t>
            </a:r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A7201D67-97DC-6559-DBBB-15441A2F44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GB" b="1"/>
              <a:t>| 9 </a:t>
            </a:r>
          </a:p>
        </p:txBody>
      </p:sp>
      <p:pic>
        <p:nvPicPr>
          <p:cNvPr id="15" name="Grafik 14" descr="Ein Bild, das Text, Screenshot, Diagramm, Schrift enthält.&#10;&#10;KI-generierte Inhalte können fehlerhaft sein.">
            <a:extLst>
              <a:ext uri="{FF2B5EF4-FFF2-40B4-BE49-F238E27FC236}">
                <a16:creationId xmlns:a16="http://schemas.microsoft.com/office/drawing/2014/main" id="{880D2C0D-D08C-F969-58C9-37A32C07E7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311" y="2966980"/>
            <a:ext cx="4827816" cy="1881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7206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484F0-98AE-FD1C-A061-51B2EC2F5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0CD634-834D-1363-72A5-F40AB8FEE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311" y="78356"/>
            <a:ext cx="11145363" cy="965871"/>
          </a:xfrm>
        </p:spPr>
        <p:txBody>
          <a:bodyPr>
            <a:noAutofit/>
          </a:bodyPr>
          <a:lstStyle/>
          <a:p>
            <a:r>
              <a:rPr lang="en-GB" sz="3200" dirty="0"/>
              <a:t>Price changes after sale confirmation introduce significant rework and increase throughput time</a:t>
            </a:r>
            <a:endParaRPr lang="en-US" sz="3200" noProof="0" dirty="0"/>
          </a:p>
        </p:txBody>
      </p:sp>
      <p:pic>
        <p:nvPicPr>
          <p:cNvPr id="4" name="Grafik 3" descr="Ein Bild, das Text, Screenshot, Design, Schrift enthält.&#10;&#10;KI-generierte Inhalte können fehlerhaft sein.">
            <a:extLst>
              <a:ext uri="{FF2B5EF4-FFF2-40B4-BE49-F238E27FC236}">
                <a16:creationId xmlns:a16="http://schemas.microsoft.com/office/drawing/2014/main" id="{06B206CB-63CE-2337-E3CE-7F25A869E7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3600" y="6244166"/>
            <a:ext cx="730250" cy="613834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3FDA28AA-3EF3-F8AB-5FEC-1DE16773662A}"/>
              </a:ext>
            </a:extLst>
          </p:cNvPr>
          <p:cNvSpPr txBox="1"/>
          <p:nvPr/>
        </p:nvSpPr>
        <p:spPr>
          <a:xfrm>
            <a:off x="340178" y="966107"/>
            <a:ext cx="737643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GAP </a:t>
            </a:r>
            <a:r>
              <a:rPr lang="en-US" b="1" noProof="0" dirty="0"/>
              <a:t>DEFINITION:</a:t>
            </a:r>
            <a:r>
              <a:rPr lang="en-US" noProof="0" dirty="0"/>
              <a:t> Price is changed any time </a:t>
            </a:r>
            <a:r>
              <a:rPr lang="en-US" b="1" i="1" noProof="0" dirty="0"/>
              <a:t>after </a:t>
            </a:r>
            <a:r>
              <a:rPr lang="en-US" noProof="0" dirty="0"/>
              <a:t>sale confirmation. 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F493ABB7-1B67-A331-D509-446EAE2B0AB2}"/>
              </a:ext>
            </a:extLst>
          </p:cNvPr>
          <p:cNvSpPr txBox="1"/>
          <p:nvPr/>
        </p:nvSpPr>
        <p:spPr>
          <a:xfrm>
            <a:off x="-50800" y="6551083"/>
            <a:ext cx="47498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b="1"/>
              <a:t>Enhancement Cycle Phase:</a:t>
            </a:r>
            <a:r>
              <a:rPr lang="en-GB" sz="800"/>
              <a:t> </a:t>
            </a:r>
            <a:r>
              <a:rPr lang="en-GB" sz="800" i="1" err="1"/>
              <a:t>Analyze</a:t>
            </a:r>
            <a:r>
              <a:rPr lang="en-GB" sz="800" i="1"/>
              <a:t> Drivers</a:t>
            </a:r>
            <a:endParaRPr lang="en-GB" sz="800" i="1">
              <a:solidFill>
                <a:srgbClr val="202124"/>
              </a:solidFill>
            </a:endParaRP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C4A9EEB-B929-0AE1-5E12-1B4B0BA693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GB" b="1"/>
              <a:t>| 10 </a:t>
            </a:r>
          </a:p>
        </p:txBody>
      </p:sp>
      <p:pic>
        <p:nvPicPr>
          <p:cNvPr id="11" name="Grafik 10" descr="Ein Bild, das Text, Screenshot, Diagramm, Schrift enthält.&#10;&#10;KI-generierte Inhalte können fehlerhaft sein.">
            <a:extLst>
              <a:ext uri="{FF2B5EF4-FFF2-40B4-BE49-F238E27FC236}">
                <a16:creationId xmlns:a16="http://schemas.microsoft.com/office/drawing/2014/main" id="{435C87F8-CCFF-E389-1362-BCC035756D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4696" y="2501899"/>
            <a:ext cx="3317293" cy="3727925"/>
          </a:xfrm>
          <a:prstGeom prst="rect">
            <a:avLst/>
          </a:prstGeom>
        </p:spPr>
      </p:pic>
      <p:pic>
        <p:nvPicPr>
          <p:cNvPr id="12" name="Grafik 11" descr="Ein Bild, das Text, Screenshot, Diagramm, Schrift enthält.&#10;&#10;KI-generierte Inhalte können fehlerhaft sein.">
            <a:extLst>
              <a:ext uri="{FF2B5EF4-FFF2-40B4-BE49-F238E27FC236}">
                <a16:creationId xmlns:a16="http://schemas.microsoft.com/office/drawing/2014/main" id="{53ED9A24-F5E2-D964-7FBA-0D77E2C5EF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948" y="2501900"/>
            <a:ext cx="3164174" cy="3727925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33DE10E5-0230-C5E0-6193-DE0574BA8E6B}"/>
              </a:ext>
            </a:extLst>
          </p:cNvPr>
          <p:cNvSpPr txBox="1"/>
          <p:nvPr/>
        </p:nvSpPr>
        <p:spPr>
          <a:xfrm>
            <a:off x="7501763" y="4445343"/>
            <a:ext cx="3521837" cy="70788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>
              <a:buNone/>
            </a:pPr>
            <a:r>
              <a:rPr lang="en-US" sz="1600" b="1" noProof="0" dirty="0">
                <a:solidFill>
                  <a:srgbClr val="202124"/>
                </a:solidFill>
                <a:highlight>
                  <a:srgbClr val="5FB3A2"/>
                </a:highlight>
              </a:rPr>
              <a:t>Key Message</a:t>
            </a:r>
          </a:p>
          <a:p>
            <a:r>
              <a:rPr lang="en-GB" sz="1200" b="1" dirty="0"/>
              <a:t>The lack of a dominant driver indicates a systemic issue.</a:t>
            </a:r>
            <a:endParaRPr lang="en-US" sz="1200" b="1" dirty="0">
              <a:solidFill>
                <a:srgbClr val="202124"/>
              </a:solidFill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BB5FFDA3-5392-8C27-C53E-2AC9F192BFE8}"/>
              </a:ext>
            </a:extLst>
          </p:cNvPr>
          <p:cNvSpPr txBox="1"/>
          <p:nvPr/>
        </p:nvSpPr>
        <p:spPr>
          <a:xfrm>
            <a:off x="436948" y="1769249"/>
            <a:ext cx="53599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1" dirty="0"/>
              <a:t>Throughput time distribution with and without post-confirmation price changes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32D65F49-A9C4-3FF8-88A3-801C48F68B08}"/>
              </a:ext>
            </a:extLst>
          </p:cNvPr>
          <p:cNvSpPr txBox="1"/>
          <p:nvPr/>
        </p:nvSpPr>
        <p:spPr>
          <a:xfrm>
            <a:off x="381942" y="2278558"/>
            <a:ext cx="42735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>
                <a:solidFill>
                  <a:srgbClr val="AFB3B2"/>
                </a:solidFill>
              </a:rPr>
              <a:t>Orders with post-confirmation price changes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A39D3390-3B1F-A38D-2353-E824A88ADD14}"/>
              </a:ext>
            </a:extLst>
          </p:cNvPr>
          <p:cNvSpPr txBox="1"/>
          <p:nvPr/>
        </p:nvSpPr>
        <p:spPr>
          <a:xfrm>
            <a:off x="3854696" y="2292899"/>
            <a:ext cx="42735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>
                <a:solidFill>
                  <a:srgbClr val="AFB3B2"/>
                </a:solidFill>
              </a:rPr>
              <a:t>Happy Path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E82B87B8-5855-EC75-2609-5AD08A4348CE}"/>
              </a:ext>
            </a:extLst>
          </p:cNvPr>
          <p:cNvSpPr txBox="1"/>
          <p:nvPr/>
        </p:nvSpPr>
        <p:spPr>
          <a:xfrm>
            <a:off x="7796407" y="2170258"/>
            <a:ext cx="3418509" cy="10677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noProof="0">
                <a:solidFill>
                  <a:srgbClr val="202124"/>
                </a:solidFill>
                <a:highlight>
                  <a:srgbClr val="5FB3A2"/>
                </a:highlight>
              </a:rPr>
              <a:t>Urgency</a:t>
            </a:r>
            <a:endParaRPr lang="en-US" noProof="0">
              <a:solidFill>
                <a:srgbClr val="202124"/>
              </a:solidFill>
              <a:highlight>
                <a:srgbClr val="5FB3A2"/>
              </a:highlight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202124"/>
                </a:solidFill>
              </a:rPr>
              <a:t>Affects</a:t>
            </a:r>
            <a:r>
              <a:rPr lang="en-US" sz="1600" noProof="0">
                <a:solidFill>
                  <a:srgbClr val="202124"/>
                </a:solidFill>
              </a:rPr>
              <a:t> </a:t>
            </a:r>
            <a:r>
              <a:rPr lang="en-US" sz="1600" b="1" noProof="0">
                <a:solidFill>
                  <a:srgbClr val="202124"/>
                </a:solidFill>
              </a:rPr>
              <a:t>~</a:t>
            </a:r>
            <a:r>
              <a:rPr lang="en-US" sz="1600" b="1">
                <a:solidFill>
                  <a:srgbClr val="202124"/>
                </a:solidFill>
              </a:rPr>
              <a:t>13</a:t>
            </a:r>
            <a:r>
              <a:rPr lang="en-US" sz="1600" b="1" noProof="0">
                <a:solidFill>
                  <a:srgbClr val="202124"/>
                </a:solidFill>
              </a:rPr>
              <a:t>%</a:t>
            </a:r>
            <a:r>
              <a:rPr lang="en-US" sz="1600" noProof="0">
                <a:solidFill>
                  <a:srgbClr val="202124"/>
                </a:solidFill>
              </a:rPr>
              <a:t> of all processes</a:t>
            </a:r>
            <a:endParaRPr lang="en-US" sz="1600" noProof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noProof="0">
                <a:highlight>
                  <a:srgbClr val="D8B35A"/>
                </a:highlight>
              </a:rPr>
              <a:t>Difference in median TPT: </a:t>
            </a:r>
            <a:r>
              <a:rPr lang="en-US" sz="1600" b="1">
                <a:highlight>
                  <a:srgbClr val="D8B35A"/>
                </a:highlight>
              </a:rPr>
              <a:t>~20d</a:t>
            </a:r>
            <a:endParaRPr lang="en-US" sz="1600" b="1" noProof="0">
              <a:highlight>
                <a:srgbClr val="D8B35A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8872268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E4CB2-7146-85D6-4E88-DB204B8C9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5BAFFE-92FC-E454-D442-D80173E0A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311" y="452553"/>
            <a:ext cx="11145363" cy="965871"/>
          </a:xfrm>
        </p:spPr>
        <p:txBody>
          <a:bodyPr>
            <a:noAutofit/>
          </a:bodyPr>
          <a:lstStyle/>
          <a:p>
            <a:r>
              <a:rPr lang="en-GB" sz="3200" dirty="0"/>
              <a:t>Repeated production rescheduling is a systemic planning issue rather than an isolated execution failure</a:t>
            </a:r>
            <a:endParaRPr lang="en-US" sz="3200" noProof="0" dirty="0"/>
          </a:p>
        </p:txBody>
      </p:sp>
      <p:pic>
        <p:nvPicPr>
          <p:cNvPr id="4" name="Grafik 3" descr="Ein Bild, das Text, Screenshot, Design, Schrift enthält.&#10;&#10;KI-generierte Inhalte können fehlerhaft sein.">
            <a:extLst>
              <a:ext uri="{FF2B5EF4-FFF2-40B4-BE49-F238E27FC236}">
                <a16:creationId xmlns:a16="http://schemas.microsoft.com/office/drawing/2014/main" id="{AA49E38D-B776-8C27-EA2E-1F38DA7F7B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3600" y="6244166"/>
            <a:ext cx="730250" cy="613834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F3FC2B82-C565-8FC9-0151-2EBA4244FDF3}"/>
              </a:ext>
            </a:extLst>
          </p:cNvPr>
          <p:cNvSpPr txBox="1"/>
          <p:nvPr/>
        </p:nvSpPr>
        <p:spPr>
          <a:xfrm>
            <a:off x="353785" y="1347107"/>
            <a:ext cx="945152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noProof="0" dirty="0"/>
              <a:t>GAP DEFINITION:</a:t>
            </a:r>
            <a:r>
              <a:rPr lang="en-US" noProof="0" dirty="0"/>
              <a:t> Production start date is changed </a:t>
            </a:r>
            <a:r>
              <a:rPr lang="en-US" b="1" i="1" noProof="0" dirty="0"/>
              <a:t>after </a:t>
            </a:r>
            <a:r>
              <a:rPr lang="en-US" noProof="0" dirty="0"/>
              <a:t>start of production.</a:t>
            </a:r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7A55070C-A751-ECCE-D2A6-690AD50A31DB}"/>
              </a:ext>
            </a:extLst>
          </p:cNvPr>
          <p:cNvSpPr/>
          <p:nvPr/>
        </p:nvSpPr>
        <p:spPr>
          <a:xfrm>
            <a:off x="5339081" y="1978015"/>
            <a:ext cx="45719" cy="4326319"/>
          </a:xfrm>
          <a:prstGeom prst="roundRect">
            <a:avLst/>
          </a:prstGeom>
          <a:solidFill>
            <a:srgbClr val="8FA3A1"/>
          </a:solidFill>
          <a:ln>
            <a:solidFill>
              <a:srgbClr val="8FA3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953C6902-552C-4C2B-7795-C96E981B7DE5}"/>
              </a:ext>
            </a:extLst>
          </p:cNvPr>
          <p:cNvSpPr txBox="1"/>
          <p:nvPr/>
        </p:nvSpPr>
        <p:spPr>
          <a:xfrm>
            <a:off x="775108" y="3498276"/>
            <a:ext cx="3661901" cy="11387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rtl="0"/>
            <a:r>
              <a:rPr lang="en-US" b="1" dirty="0">
                <a:solidFill>
                  <a:srgbClr val="202124"/>
                </a:solidFill>
                <a:ea typeface="Segoe UI"/>
                <a:cs typeface="Segoe UI"/>
              </a:rPr>
              <a:t>Factory</a:t>
            </a:r>
            <a:endParaRPr lang="en-US" dirty="0">
              <a:solidFill>
                <a:srgbClr val="202124"/>
              </a:solidFill>
              <a:ea typeface="Segoe UI"/>
              <a:cs typeface="Segoe UI"/>
            </a:endParaRPr>
          </a:p>
          <a:p>
            <a:r>
              <a:rPr lang="en-US" sz="1600" dirty="0">
                <a:solidFill>
                  <a:srgbClr val="202124"/>
                </a:solidFill>
                <a:ea typeface="Segoe UI"/>
                <a:cs typeface="Segoe UI"/>
              </a:rPr>
              <a:t>Relatively stable across all factories, nothing unusual.</a:t>
            </a:r>
          </a:p>
          <a:p>
            <a:pPr algn="ctr"/>
            <a:endParaRPr lang="de-DE" dirty="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9AE10B86-8F13-673E-99A1-754B0D03C5B7}"/>
              </a:ext>
            </a:extLst>
          </p:cNvPr>
          <p:cNvSpPr txBox="1"/>
          <p:nvPr/>
        </p:nvSpPr>
        <p:spPr>
          <a:xfrm>
            <a:off x="775109" y="2448058"/>
            <a:ext cx="3661901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noProof="0" dirty="0">
                <a:solidFill>
                  <a:srgbClr val="202124"/>
                </a:solidFill>
                <a:highlight>
                  <a:srgbClr val="5FB3A2"/>
                </a:highlight>
              </a:rPr>
              <a:t>Urgency</a:t>
            </a:r>
            <a:endParaRPr lang="en-US" noProof="0" dirty="0">
              <a:highlight>
                <a:srgbClr val="5FB3A2"/>
              </a:highligh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02124"/>
                </a:solidFill>
              </a:rPr>
              <a:t>Affects</a:t>
            </a:r>
            <a:r>
              <a:rPr lang="en-US" sz="1600" noProof="0" dirty="0">
                <a:solidFill>
                  <a:srgbClr val="202124"/>
                </a:solidFill>
              </a:rPr>
              <a:t> </a:t>
            </a:r>
            <a:r>
              <a:rPr lang="en-US" sz="1600" b="1" noProof="0" dirty="0">
                <a:solidFill>
                  <a:srgbClr val="202124"/>
                </a:solidFill>
              </a:rPr>
              <a:t>~</a:t>
            </a:r>
            <a:r>
              <a:rPr lang="en-US" sz="1600" b="1" dirty="0">
                <a:solidFill>
                  <a:srgbClr val="202124"/>
                </a:solidFill>
              </a:rPr>
              <a:t>48,3%</a:t>
            </a:r>
            <a:r>
              <a:rPr lang="en-US" sz="1600" noProof="0" dirty="0">
                <a:solidFill>
                  <a:srgbClr val="202124"/>
                </a:solidFill>
              </a:rPr>
              <a:t> of all processes</a:t>
            </a:r>
            <a:endParaRPr lang="en-US" sz="1600" b="1" noProof="0" dirty="0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8720BDF7-9F61-622F-F95F-0C4A54B1F4CC}"/>
              </a:ext>
            </a:extLst>
          </p:cNvPr>
          <p:cNvSpPr txBox="1"/>
          <p:nvPr/>
        </p:nvSpPr>
        <p:spPr>
          <a:xfrm>
            <a:off x="6958936" y="2180936"/>
            <a:ext cx="405492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1400" b="1" dirty="0"/>
              <a:t>Customer distribution for orders with repeated production rescheduling</a:t>
            </a:r>
            <a:endParaRPr lang="de-DE" sz="1100" b="1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23B6FC3-780B-26E7-F751-8C23CA6B0803}"/>
              </a:ext>
            </a:extLst>
          </p:cNvPr>
          <p:cNvSpPr txBox="1"/>
          <p:nvPr/>
        </p:nvSpPr>
        <p:spPr>
          <a:xfrm>
            <a:off x="-50800" y="6551083"/>
            <a:ext cx="47498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b="1"/>
              <a:t>Enhancement Cycle Phase:</a:t>
            </a:r>
            <a:r>
              <a:rPr lang="en-GB" sz="800"/>
              <a:t> </a:t>
            </a:r>
            <a:r>
              <a:rPr lang="en-GB" sz="800" i="1" err="1"/>
              <a:t>Analyze</a:t>
            </a:r>
            <a:r>
              <a:rPr lang="en-GB" sz="800" i="1"/>
              <a:t> Drivers</a:t>
            </a:r>
            <a:endParaRPr lang="en-GB" sz="800" i="1">
              <a:solidFill>
                <a:srgbClr val="202124"/>
              </a:solidFill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FC1CB1DF-EF69-AB7D-1FDC-2CDBC0F5189D}"/>
              </a:ext>
            </a:extLst>
          </p:cNvPr>
          <p:cNvSpPr txBox="1"/>
          <p:nvPr/>
        </p:nvSpPr>
        <p:spPr>
          <a:xfrm>
            <a:off x="5691523" y="5031506"/>
            <a:ext cx="4050264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b="1" noProof="0" dirty="0">
                <a:solidFill>
                  <a:srgbClr val="1F4E4A"/>
                </a:solidFill>
              </a:rPr>
              <a:t>How to read:</a:t>
            </a:r>
            <a:r>
              <a:rPr lang="en-US" sz="1200" b="1" dirty="0">
                <a:solidFill>
                  <a:srgbClr val="1F4E4A"/>
                </a:solidFill>
              </a:rPr>
              <a:t> </a:t>
            </a:r>
            <a:r>
              <a:rPr lang="en-GB" sz="1200" dirty="0">
                <a:solidFill>
                  <a:srgbClr val="1F4E4A"/>
                </a:solidFill>
              </a:rPr>
              <a:t>Each bar represents the number of orders with repeated production rescheduling per customer</a:t>
            </a:r>
            <a:endParaRPr lang="en-US" sz="1200" noProof="0" dirty="0">
              <a:solidFill>
                <a:srgbClr val="1F4E4A"/>
              </a:solidFill>
            </a:endParaRP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B17D7AC7-DFFF-FCB7-328C-CF75F9CF6C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GB" b="1"/>
              <a:t>| 11 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2A57D35A-34A0-C812-1730-1CD4C20CC9A3}"/>
              </a:ext>
            </a:extLst>
          </p:cNvPr>
          <p:cNvSpPr txBox="1"/>
          <p:nvPr/>
        </p:nvSpPr>
        <p:spPr>
          <a:xfrm>
            <a:off x="282013" y="5055457"/>
            <a:ext cx="4976366" cy="98488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>
              <a:buNone/>
            </a:pPr>
            <a:r>
              <a:rPr lang="en-US" sz="1600" b="1" noProof="0" dirty="0">
                <a:solidFill>
                  <a:srgbClr val="202124"/>
                </a:solidFill>
                <a:highlight>
                  <a:srgbClr val="5FB3A2"/>
                </a:highlight>
              </a:rPr>
              <a:t>Key Message</a:t>
            </a:r>
          </a:p>
          <a:p>
            <a:r>
              <a:rPr lang="en-GB" sz="1400" dirty="0"/>
              <a:t>This execution gap affects nearly half of all processes and reflects a systemic planning issue rather than isolated execution failures.</a:t>
            </a:r>
            <a:endParaRPr lang="en-US" sz="1400" dirty="0">
              <a:solidFill>
                <a:srgbClr val="202124"/>
              </a:solidFill>
            </a:endParaRPr>
          </a:p>
        </p:txBody>
      </p:sp>
      <p:pic>
        <p:nvPicPr>
          <p:cNvPr id="6" name="Grafik 5" descr="Ein Bild, das Text, Screenshot, Display, Zahl enthält.&#10;&#10;KI-generierte Inhalte können fehlerhaft sein.">
            <a:extLst>
              <a:ext uri="{FF2B5EF4-FFF2-40B4-BE49-F238E27FC236}">
                <a16:creationId xmlns:a16="http://schemas.microsoft.com/office/drawing/2014/main" id="{656F4141-4AB1-3AE9-7640-11695B6F89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3780" y="2756807"/>
            <a:ext cx="5821136" cy="2222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284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F47C0-85A1-DF11-70A1-D8D605C35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81BEA3-E231-F5C5-82A9-4BCF5BB9C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311" y="17125"/>
            <a:ext cx="11145363" cy="965871"/>
          </a:xfrm>
        </p:spPr>
        <p:txBody>
          <a:bodyPr/>
          <a:lstStyle/>
          <a:p>
            <a:r>
              <a:rPr lang="en-US" noProof="0"/>
              <a:t>Targeted Management Actions</a:t>
            </a:r>
          </a:p>
        </p:txBody>
      </p:sp>
      <p:graphicFrame>
        <p:nvGraphicFramePr>
          <p:cNvPr id="8" name="Tabelle 7">
            <a:extLst>
              <a:ext uri="{FF2B5EF4-FFF2-40B4-BE49-F238E27FC236}">
                <a16:creationId xmlns:a16="http://schemas.microsoft.com/office/drawing/2014/main" id="{ED5EF970-7155-F388-F208-1AEB51B173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2908204"/>
              </p:ext>
            </p:extLst>
          </p:nvPr>
        </p:nvGraphicFramePr>
        <p:xfrm>
          <a:off x="361950" y="1005870"/>
          <a:ext cx="11226812" cy="470879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93920">
                  <a:extLst>
                    <a:ext uri="{9D8B030D-6E8A-4147-A177-3AD203B41FA5}">
                      <a16:colId xmlns:a16="http://schemas.microsoft.com/office/drawing/2014/main" val="749538409"/>
                    </a:ext>
                  </a:extLst>
                </a:gridCol>
                <a:gridCol w="1605482">
                  <a:extLst>
                    <a:ext uri="{9D8B030D-6E8A-4147-A177-3AD203B41FA5}">
                      <a16:colId xmlns:a16="http://schemas.microsoft.com/office/drawing/2014/main" val="4094645493"/>
                    </a:ext>
                  </a:extLst>
                </a:gridCol>
                <a:gridCol w="2789464">
                  <a:extLst>
                    <a:ext uri="{9D8B030D-6E8A-4147-A177-3AD203B41FA5}">
                      <a16:colId xmlns:a16="http://schemas.microsoft.com/office/drawing/2014/main" val="434330125"/>
                    </a:ext>
                  </a:extLst>
                </a:gridCol>
                <a:gridCol w="1409015">
                  <a:extLst>
                    <a:ext uri="{9D8B030D-6E8A-4147-A177-3AD203B41FA5}">
                      <a16:colId xmlns:a16="http://schemas.microsoft.com/office/drawing/2014/main" val="251361997"/>
                    </a:ext>
                  </a:extLst>
                </a:gridCol>
                <a:gridCol w="939374">
                  <a:extLst>
                    <a:ext uri="{9D8B030D-6E8A-4147-A177-3AD203B41FA5}">
                      <a16:colId xmlns:a16="http://schemas.microsoft.com/office/drawing/2014/main" val="1342523855"/>
                    </a:ext>
                  </a:extLst>
                </a:gridCol>
                <a:gridCol w="1284075">
                  <a:extLst>
                    <a:ext uri="{9D8B030D-6E8A-4147-A177-3AD203B41FA5}">
                      <a16:colId xmlns:a16="http://schemas.microsoft.com/office/drawing/2014/main" val="3162073393"/>
                    </a:ext>
                  </a:extLst>
                </a:gridCol>
                <a:gridCol w="1605482">
                  <a:extLst>
                    <a:ext uri="{9D8B030D-6E8A-4147-A177-3AD203B41FA5}">
                      <a16:colId xmlns:a16="http://schemas.microsoft.com/office/drawing/2014/main" val="633141770"/>
                    </a:ext>
                  </a:extLst>
                </a:gridCol>
              </a:tblGrid>
              <a:tr h="738436"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/>
                        <a:t>Identified Gap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/>
                        <a:t>Gap Category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/>
                        <a:t>Management Action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/>
                        <a:t>Action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noProof="0"/>
                        <a:t>Business Impact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noProof="0"/>
                        <a:t>Implementation Effort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/>
                        <a:t>Control KPI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98730367"/>
                  </a:ext>
                </a:extLst>
              </a:tr>
              <a:tr h="738436">
                <a:tc>
                  <a:txBody>
                    <a:bodyPr/>
                    <a:lstStyle/>
                    <a:p>
                      <a:pPr algn="ctr"/>
                      <a:r>
                        <a:rPr lang="en-US" sz="1000" noProof="0"/>
                        <a:t>Late quantity changes after load shipment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noProof="0"/>
                        <a:t>Execution Gap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2F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700" b="1" i="0" u="none" strike="noStrike" baseline="0" noProof="0">
                          <a:solidFill>
                            <a:srgbClr val="202124"/>
                          </a:solidFill>
                          <a:latin typeface="+mn-lt"/>
                        </a:rPr>
                        <a:t>Audit and standardize loading procedures at Essen and Bonn</a:t>
                      </a:r>
                      <a:r>
                        <a:rPr lang="en-US" sz="700" b="0" i="0" u="none" strike="noStrike" baseline="0" noProof="0">
                          <a:solidFill>
                            <a:srgbClr val="202124"/>
                          </a:solidFill>
                          <a:latin typeface="+mn-lt"/>
                        </a:rPr>
                        <a:t>: Implement digital checklists or barcode scanning for quantity verification pre-loading; train staff on error-prone steps</a:t>
                      </a:r>
                      <a:endParaRPr lang="de-DE" sz="700">
                        <a:solidFill>
                          <a:srgbClr val="202124"/>
                        </a:solidFill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noProof="0"/>
                        <a:t>IMMEDIATE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noProof="0">
                          <a:solidFill>
                            <a:srgbClr val="202124"/>
                          </a:solidFill>
                        </a:rPr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noProof="0">
                          <a:solidFill>
                            <a:srgbClr val="202124"/>
                          </a:solidFill>
                        </a:rPr>
                        <a:t>LOW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noProof="0"/>
                        <a:t>% qty changes post-shipment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1525164"/>
                  </a:ext>
                </a:extLst>
              </a:tr>
              <a:tr h="817086">
                <a:tc>
                  <a:txBody>
                    <a:bodyPr/>
                    <a:lstStyle/>
                    <a:p>
                      <a:pPr algn="ctr"/>
                      <a:r>
                        <a:rPr lang="en-US" sz="1000" noProof="0"/>
                        <a:t>Credit blocks with downstream rework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noProof="0"/>
                        <a:t>Control / Compliance Gap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2F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700" b="1" i="0" u="none" strike="noStrike" baseline="0" noProof="0">
                          <a:solidFill>
                            <a:srgbClr val="202124"/>
                          </a:solidFill>
                          <a:latin typeface="+mn-lt"/>
                        </a:rPr>
                        <a:t>Implement tiered credit policies</a:t>
                      </a:r>
                      <a:r>
                        <a:rPr lang="en-US" sz="700" b="0" i="0" u="none" strike="noStrike" baseline="0" noProof="0">
                          <a:solidFill>
                            <a:srgbClr val="202124"/>
                          </a:solidFill>
                          <a:latin typeface="+mn-lt"/>
                        </a:rPr>
                        <a:t>: Auto-approve low-value orders (&lt;€5k) for established EU customers; require pre-checks only for new/non-EU buyers. </a:t>
                      </a:r>
                      <a:endParaRPr lang="de-DE" sz="700">
                        <a:solidFill>
                          <a:srgbClr val="202124"/>
                        </a:solidFill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noProof="0"/>
                        <a:t>IMMEDIATE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noProof="0">
                          <a:solidFill>
                            <a:srgbClr val="202124"/>
                          </a:solidFill>
                        </a:rPr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>
                          <a:solidFill>
                            <a:srgbClr val="202124"/>
                          </a:solidFill>
                        </a:rPr>
                        <a:t>MEDIUM -</a:t>
                      </a:r>
                    </a:p>
                    <a:p>
                      <a:pPr algn="ctr"/>
                      <a:r>
                        <a:rPr lang="en-US" sz="1400" b="1" noProof="0">
                          <a:solidFill>
                            <a:srgbClr val="202124"/>
                          </a:solidFill>
                        </a:rPr>
                        <a:t>HIGH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% of orders blocked by credit checks</a:t>
                      </a:r>
                      <a:endParaRPr lang="en-US" sz="1000" noProof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4117430"/>
                  </a:ext>
                </a:extLst>
              </a:tr>
              <a:tr h="738436">
                <a:tc>
                  <a:txBody>
                    <a:bodyPr/>
                    <a:lstStyle/>
                    <a:p>
                      <a:pPr algn="ctr"/>
                      <a:r>
                        <a:rPr lang="en-US" sz="1000" noProof="0"/>
                        <a:t>Sales price rework after confirmation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noProof="0"/>
                        <a:t>Commercial / Policy Gap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700" b="1">
                          <a:latin typeface="+mn-lt"/>
                        </a:rPr>
                        <a:t>Increase transparency on post-confirmation price changes and monitor their frequency and impact.</a:t>
                      </a:r>
                      <a:br>
                        <a:rPr lang="en-GB" sz="700">
                          <a:latin typeface="+mn-lt"/>
                        </a:rPr>
                      </a:br>
                      <a:r>
                        <a:rPr lang="en-GB" sz="700">
                          <a:latin typeface="+mn-lt"/>
                        </a:rPr>
                        <a:t>Introduce a </a:t>
                      </a:r>
                      <a:r>
                        <a:rPr lang="en-GB" sz="700" b="1">
                          <a:latin typeface="+mn-lt"/>
                        </a:rPr>
                        <a:t>soft price-change governance</a:t>
                      </a:r>
                      <a:r>
                        <a:rPr lang="en-GB" sz="700">
                          <a:latin typeface="+mn-lt"/>
                        </a:rPr>
                        <a:t> (e.g. justification requirement and managerial approval after sale confirmation).</a:t>
                      </a:r>
                      <a:br>
                        <a:rPr lang="en-GB" sz="700">
                          <a:latin typeface="+mn-lt"/>
                        </a:rPr>
                      </a:br>
                      <a:r>
                        <a:rPr lang="en-GB" sz="700">
                          <a:latin typeface="+mn-lt"/>
                        </a:rPr>
                        <a:t>Evaluate the need for a formal </a:t>
                      </a:r>
                      <a:r>
                        <a:rPr lang="en-GB" sz="700" b="0">
                          <a:latin typeface="+mn-lt"/>
                        </a:rPr>
                        <a:t>price-change freeze </a:t>
                      </a:r>
                      <a:r>
                        <a:rPr lang="en-GB" sz="700">
                          <a:latin typeface="+mn-lt"/>
                        </a:rPr>
                        <a:t>only if rework remains frequent or value-relevant.</a:t>
                      </a:r>
                      <a:endParaRPr lang="en-US" sz="700" noProof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noProof="0"/>
                        <a:t>MONITOR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noProof="0">
                          <a:solidFill>
                            <a:srgbClr val="202124"/>
                          </a:solidFill>
                        </a:rPr>
                        <a:t>(HIGH)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noProof="0">
                          <a:solidFill>
                            <a:srgbClr val="202124"/>
                          </a:solidFill>
                        </a:rPr>
                        <a:t>LOW -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>
                          <a:solidFill>
                            <a:srgbClr val="202124"/>
                          </a:solidFill>
                        </a:rPr>
                        <a:t>MEDIUM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noProof="0"/>
                        <a:t>% prices changes post sale conformation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2700788"/>
                  </a:ext>
                </a:extLst>
              </a:tr>
              <a:tr h="738436">
                <a:tc>
                  <a:txBody>
                    <a:bodyPr/>
                    <a:lstStyle/>
                    <a:p>
                      <a:pPr algn="ctr"/>
                      <a:r>
                        <a:rPr lang="en-US" sz="1000" noProof="0"/>
                        <a:t>Repeated production start date changes after production start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noProof="0"/>
                        <a:t>Planning &amp; Coordination Gap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2F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GB" sz="700" b="1">
                          <a:latin typeface="+mn-lt"/>
                        </a:rPr>
                        <a:t>Increase transparency on post-start production re-scheduling and monitor its frequency and drivers.</a:t>
                      </a:r>
                      <a:br>
                        <a:rPr lang="en-GB" sz="700" b="1">
                          <a:latin typeface="+mn-lt"/>
                        </a:rPr>
                      </a:br>
                      <a:r>
                        <a:rPr lang="en-GB" sz="700">
                          <a:latin typeface="+mn-lt"/>
                        </a:rPr>
                        <a:t>Introduce a </a:t>
                      </a:r>
                      <a:r>
                        <a:rPr lang="en-GB" sz="700" b="1">
                          <a:latin typeface="+mn-lt"/>
                        </a:rPr>
                        <a:t>formal change governance after production start</a:t>
                      </a:r>
                      <a:r>
                        <a:rPr lang="en-GB" sz="700">
                          <a:latin typeface="+mn-lt"/>
                        </a:rPr>
                        <a:t> (e.g. justification and approval requirement).</a:t>
                      </a:r>
                      <a:br>
                        <a:rPr lang="en-GB" sz="700">
                          <a:latin typeface="+mn-lt"/>
                        </a:rPr>
                      </a:br>
                      <a:r>
                        <a:rPr lang="en-GB" sz="700">
                          <a:latin typeface="+mn-lt"/>
                        </a:rPr>
                        <a:t>Escalate to a strict </a:t>
                      </a:r>
                      <a:r>
                        <a:rPr lang="en-GB" sz="700" b="0">
                          <a:latin typeface="+mn-lt"/>
                        </a:rPr>
                        <a:t>change-freeze or penalty-based policy </a:t>
                      </a:r>
                      <a:r>
                        <a:rPr lang="en-GB" sz="700">
                          <a:latin typeface="+mn-lt"/>
                        </a:rPr>
                        <a:t>only if re-scheduling remains frequent and destabilizes planning reliability.</a:t>
                      </a:r>
                      <a:endParaRPr lang="de-DE" sz="70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noProof="0"/>
                        <a:t>MONITOR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noProof="0">
                          <a:solidFill>
                            <a:srgbClr val="202124"/>
                          </a:solidFill>
                        </a:rPr>
                        <a:t>MEDIUM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noProof="0">
                          <a:solidFill>
                            <a:srgbClr val="202124"/>
                          </a:solidFill>
                        </a:rPr>
                        <a:t>MEDIUM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noProof="0"/>
                        <a:t>% production start date changes after start production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8983424"/>
                  </a:ext>
                </a:extLst>
              </a:tr>
              <a:tr h="783041">
                <a:tc>
                  <a:txBody>
                    <a:bodyPr/>
                    <a:lstStyle/>
                    <a:p>
                      <a:pPr algn="ctr"/>
                      <a:r>
                        <a:rPr lang="en-US" sz="1000" noProof="0"/>
                        <a:t>Timestamp inconsistencies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noProof="0"/>
                        <a:t>Data / Technical Artifact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2F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GB" sz="700" b="1">
                          <a:latin typeface="+mn-lt"/>
                        </a:rPr>
                        <a:t>Handle timestamp inconsistencies analytically rather than operationally.</a:t>
                      </a:r>
                      <a:br>
                        <a:rPr lang="en-GB" sz="700" b="1">
                          <a:latin typeface="+mn-lt"/>
                        </a:rPr>
                      </a:br>
                      <a:r>
                        <a:rPr lang="en-GB" sz="700">
                          <a:latin typeface="+mn-lt"/>
                        </a:rPr>
                        <a:t>Use business-based sorting logic and plausibility checks for analysis.</a:t>
                      </a:r>
                      <a:br>
                        <a:rPr lang="en-GB" sz="700">
                          <a:latin typeface="+mn-lt"/>
                        </a:rPr>
                      </a:br>
                      <a:r>
                        <a:rPr lang="en-GB" sz="700">
                          <a:latin typeface="+mn-lt"/>
                        </a:rPr>
                        <a:t>Document data quality limitations and </a:t>
                      </a:r>
                      <a:r>
                        <a:rPr lang="en-GB" sz="700" b="0">
                          <a:latin typeface="+mn-lt"/>
                        </a:rPr>
                        <a:t>flag standardized event logging as a future IT enablement topic, </a:t>
                      </a:r>
                      <a:r>
                        <a:rPr lang="en-GB" sz="700" b="1">
                          <a:latin typeface="+mn-lt"/>
                        </a:rPr>
                        <a:t>not as a current improvement initiative.</a:t>
                      </a:r>
                      <a:endParaRPr lang="de-DE" sz="700" b="1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noProof="0"/>
                        <a:t>AVOID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noProof="0">
                          <a:solidFill>
                            <a:srgbClr val="202124"/>
                          </a:solidFill>
                        </a:rPr>
                        <a:t>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noProof="0">
                          <a:solidFill>
                            <a:srgbClr val="202124"/>
                          </a:solidFill>
                        </a:rPr>
                        <a:t>MEDIUM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i="1" noProof="0"/>
                        <a:t>Data Quality checks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1765746"/>
                  </a:ext>
                </a:extLst>
              </a:tr>
            </a:tbl>
          </a:graphicData>
        </a:graphic>
      </p:graphicFrame>
      <p:pic>
        <p:nvPicPr>
          <p:cNvPr id="9" name="Grafik 8" descr="Ein Bild, das Text, Screenshot, Design, Schrift enthält.&#10;&#10;KI-generierte Inhalte können fehlerhaft sein.">
            <a:extLst>
              <a:ext uri="{FF2B5EF4-FFF2-40B4-BE49-F238E27FC236}">
                <a16:creationId xmlns:a16="http://schemas.microsoft.com/office/drawing/2014/main" id="{CFDD91A6-0E9B-C2DD-9366-7D10C31C34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3600" y="6244166"/>
            <a:ext cx="730250" cy="613834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A84B04F7-ECC8-715D-507B-48FA47EC2238}"/>
              </a:ext>
            </a:extLst>
          </p:cNvPr>
          <p:cNvSpPr txBox="1"/>
          <p:nvPr/>
        </p:nvSpPr>
        <p:spPr>
          <a:xfrm>
            <a:off x="5491719" y="5781642"/>
            <a:ext cx="5424961" cy="76944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buNone/>
            </a:pPr>
            <a:r>
              <a:rPr lang="en-US" sz="1600" b="1" noProof="0">
                <a:solidFill>
                  <a:srgbClr val="202124"/>
                </a:solidFill>
                <a:highlight>
                  <a:srgbClr val="5FB3A2"/>
                </a:highlight>
              </a:rPr>
              <a:t>Key Message</a:t>
            </a:r>
          </a:p>
          <a:p>
            <a:pPr>
              <a:buNone/>
            </a:pPr>
            <a:r>
              <a:rPr lang="en-GB" sz="1400"/>
              <a:t>Targeted actions aligned to specific execution gap types deliver higher impact than broad, undifferentiated process changes.</a:t>
            </a:r>
            <a:endParaRPr lang="en-US" sz="1400" b="1" noProof="0">
              <a:solidFill>
                <a:srgbClr val="202124"/>
              </a:solidFill>
              <a:highlight>
                <a:srgbClr val="5FB3A2"/>
              </a:highlight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B3EBDF4C-9698-BC8A-5ADC-069CC5AB9EB1}"/>
              </a:ext>
            </a:extLst>
          </p:cNvPr>
          <p:cNvSpPr txBox="1"/>
          <p:nvPr/>
        </p:nvSpPr>
        <p:spPr>
          <a:xfrm>
            <a:off x="351311" y="5764648"/>
            <a:ext cx="503348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b="1" noProof="0">
                <a:solidFill>
                  <a:srgbClr val="1F4E4A"/>
                </a:solidFill>
              </a:rPr>
              <a:t>How to read:</a:t>
            </a:r>
            <a:r>
              <a:rPr lang="en-US" sz="1200" noProof="0">
                <a:solidFill>
                  <a:srgbClr val="1F4E4A"/>
                </a:solidFill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1000">
                <a:solidFill>
                  <a:srgbClr val="1F4E4A"/>
                </a:solidFill>
              </a:rPr>
              <a:t>The table links identified O2C execution gaps to issue based categories, prioritized management actions, and control KPIs based on impact and implementation effort.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6E796C69-66E7-4701-0368-C5622FD159CF}"/>
              </a:ext>
            </a:extLst>
          </p:cNvPr>
          <p:cNvSpPr txBox="1"/>
          <p:nvPr/>
        </p:nvSpPr>
        <p:spPr>
          <a:xfrm>
            <a:off x="-50800" y="6551083"/>
            <a:ext cx="4749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b="1"/>
              <a:t>Enhancement Cycle Phase:</a:t>
            </a:r>
            <a:r>
              <a:rPr lang="en-GB" sz="800"/>
              <a:t> </a:t>
            </a:r>
            <a:r>
              <a:rPr lang="en-GB" sz="800" i="1"/>
              <a:t>Devise &amp; Prioritize Improvements</a:t>
            </a:r>
            <a:br>
              <a:rPr lang="en-GB" sz="800" i="1"/>
            </a:br>
            <a:r>
              <a:rPr lang="en-GB" sz="800" i="1"/>
              <a:t>(with Control KPIs)</a:t>
            </a:r>
            <a:endParaRPr lang="en-GB" sz="800" i="1">
              <a:solidFill>
                <a:srgbClr val="202124"/>
              </a:solidFill>
            </a:endParaRP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4E50B0C7-C9F6-9A79-330C-FEC39C31C3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GB" b="1"/>
              <a:t>| 12 </a:t>
            </a:r>
          </a:p>
        </p:txBody>
      </p:sp>
    </p:spTree>
    <p:extLst>
      <p:ext uri="{BB962C8B-B14F-4D97-AF65-F5344CB8AC3E}">
        <p14:creationId xmlns:p14="http://schemas.microsoft.com/office/powerpoint/2010/main" val="21018575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64294-BB71-0D46-938D-D09B6CB18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AC46E0-9597-A458-D20F-3901C2E54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2410" y="2207232"/>
            <a:ext cx="11145363" cy="965871"/>
          </a:xfrm>
        </p:spPr>
        <p:txBody>
          <a:bodyPr>
            <a:normAutofit/>
          </a:bodyPr>
          <a:lstStyle/>
          <a:p>
            <a:r>
              <a:rPr lang="en-US" sz="2400" noProof="0">
                <a:solidFill>
                  <a:srgbClr val="202124"/>
                </a:solidFill>
                <a:latin typeface="+mn-lt"/>
              </a:rPr>
              <a:t>Thank you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CCEC34B3-56D2-8292-3860-D606AD6506A7}"/>
              </a:ext>
            </a:extLst>
          </p:cNvPr>
          <p:cNvSpPr txBox="1"/>
          <p:nvPr/>
        </p:nvSpPr>
        <p:spPr>
          <a:xfrm>
            <a:off x="2272410" y="3173103"/>
            <a:ext cx="568933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noProof="0" dirty="0" err="1">
                <a:solidFill>
                  <a:srgbClr val="8FA3A1"/>
                </a:solidFill>
              </a:rPr>
              <a:t>Woodcorp</a:t>
            </a:r>
            <a:r>
              <a:rPr lang="en-US" sz="1000" b="1" noProof="0" dirty="0">
                <a:solidFill>
                  <a:srgbClr val="8FA3A1"/>
                </a:solidFill>
              </a:rPr>
              <a:t> – Order-to-Cash Process Analysis</a:t>
            </a:r>
          </a:p>
          <a:p>
            <a:r>
              <a:rPr lang="en-US" sz="1000" noProof="0" dirty="0">
                <a:solidFill>
                  <a:srgbClr val="8FA3A1"/>
                </a:solidFill>
              </a:rPr>
              <a:t>Academic project · DIS26a1 (Process Mining) · TH Köln</a:t>
            </a:r>
          </a:p>
          <a:p>
            <a:r>
              <a:rPr lang="en-US" sz="1000" noProof="0" dirty="0">
                <a:solidFill>
                  <a:srgbClr val="8FA3A1"/>
                </a:solidFill>
              </a:rPr>
              <a:t>· Tools: </a:t>
            </a:r>
            <a:r>
              <a:rPr lang="en-US" sz="1000" noProof="0" dirty="0" err="1">
                <a:solidFill>
                  <a:srgbClr val="8FA3A1"/>
                </a:solidFill>
              </a:rPr>
              <a:t>Celonis</a:t>
            </a:r>
            <a:r>
              <a:rPr lang="en-US" sz="1000" noProof="0" dirty="0">
                <a:solidFill>
                  <a:srgbClr val="8FA3A1"/>
                </a:solidFill>
              </a:rPr>
              <a:t> (process mining platform), Python</a:t>
            </a:r>
          </a:p>
          <a:p>
            <a:r>
              <a:rPr lang="en-US" sz="1000" noProof="0" dirty="0">
                <a:solidFill>
                  <a:srgbClr val="8FA3A1"/>
                </a:solidFill>
              </a:rPr>
              <a:t>· Team: Jan Krings &amp; Henri </a:t>
            </a:r>
            <a:r>
              <a:rPr lang="en-US" sz="1000" noProof="0" dirty="0" err="1">
                <a:solidFill>
                  <a:srgbClr val="8FA3A1"/>
                </a:solidFill>
              </a:rPr>
              <a:t>Moersheim</a:t>
            </a:r>
            <a:endParaRPr lang="en-US" sz="1000" noProof="0" dirty="0">
              <a:solidFill>
                <a:srgbClr val="8FA3A1"/>
              </a:solidFill>
            </a:endParaRPr>
          </a:p>
          <a:p>
            <a:endParaRPr lang="en-US" sz="1000" noProof="0" dirty="0">
              <a:solidFill>
                <a:srgbClr val="8FA3A1"/>
              </a:solidFill>
            </a:endParaRPr>
          </a:p>
          <a:p>
            <a:r>
              <a:rPr lang="en-US" sz="1000" i="1" noProof="0" dirty="0">
                <a:solidFill>
                  <a:srgbClr val="8FA3A1"/>
                </a:solidFill>
              </a:rPr>
              <a:t>Fictitious company · Data synthesized</a:t>
            </a:r>
            <a:endParaRPr lang="en-US" sz="1000" b="1" i="1" noProof="0" dirty="0">
              <a:solidFill>
                <a:srgbClr val="8FA3A1"/>
              </a:solidFill>
            </a:endParaRPr>
          </a:p>
          <a:p>
            <a:endParaRPr lang="en-US" sz="1000" noProof="0" dirty="0"/>
          </a:p>
          <a:p>
            <a:pPr>
              <a:buNone/>
            </a:pPr>
            <a:endParaRPr lang="en-US" sz="1000" noProof="0" dirty="0">
              <a:solidFill>
                <a:srgbClr val="8FA3A1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E0C2502E-8B2E-6FCD-A3D9-4B367291506B}"/>
              </a:ext>
            </a:extLst>
          </p:cNvPr>
          <p:cNvSpPr txBox="1"/>
          <p:nvPr/>
        </p:nvSpPr>
        <p:spPr>
          <a:xfrm>
            <a:off x="406664" y="900314"/>
            <a:ext cx="910563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noProof="0">
                <a:solidFill>
                  <a:srgbClr val="1F4E4A"/>
                </a:solidFill>
              </a:rPr>
              <a:t>Key Takeaway for Management</a:t>
            </a:r>
            <a:br>
              <a:rPr lang="en-US" sz="3200" noProof="0">
                <a:solidFill>
                  <a:srgbClr val="1F4E4A"/>
                </a:solidFill>
              </a:rPr>
            </a:br>
            <a:r>
              <a:rPr lang="en-US" sz="3200" noProof="0">
                <a:solidFill>
                  <a:srgbClr val="1F4E4A"/>
                </a:solidFill>
              </a:rPr>
              <a:t>Execution variability is not a data problem.</a:t>
            </a:r>
          </a:p>
          <a:p>
            <a:r>
              <a:rPr lang="en-US" sz="3200" noProof="0">
                <a:solidFill>
                  <a:srgbClr val="1F4E4A"/>
                </a:solidFill>
              </a:rPr>
              <a:t>It is a governance problem.</a:t>
            </a:r>
          </a:p>
        </p:txBody>
      </p:sp>
      <p:pic>
        <p:nvPicPr>
          <p:cNvPr id="6" name="Grafik 5" descr="Ein Bild, das Text, Screenshot, Design, Schrift enthält.&#10;&#10;KI-generierte Inhalte können fehlerhaft sein.">
            <a:extLst>
              <a:ext uri="{FF2B5EF4-FFF2-40B4-BE49-F238E27FC236}">
                <a16:creationId xmlns:a16="http://schemas.microsoft.com/office/drawing/2014/main" id="{3CA14987-519B-DD17-D488-74B166AA79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615" y="2735100"/>
            <a:ext cx="1651000" cy="1387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6678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0B814-A3BA-F7ED-BF4E-403C2BAE3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B82E5D85-1C0B-C88E-C60A-FAA40230749E}"/>
              </a:ext>
            </a:extLst>
          </p:cNvPr>
          <p:cNvSpPr txBox="1"/>
          <p:nvPr/>
        </p:nvSpPr>
        <p:spPr>
          <a:xfrm>
            <a:off x="460410" y="2723103"/>
            <a:ext cx="9031336" cy="218521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 noProof="0">
                <a:solidFill>
                  <a:srgbClr val="8FA3A1"/>
                </a:solidFill>
                <a:ea typeface="+mn-lt"/>
                <a:cs typeface="+mn-lt"/>
              </a:rPr>
              <a:t>Detailed analysis, methodology and assumptions documented on the project repository</a:t>
            </a:r>
            <a:endParaRPr lang="en-US" sz="1600" noProof="0">
              <a:latin typeface="IBM Plex Sans"/>
            </a:endParaRPr>
          </a:p>
          <a:p>
            <a:pPr marL="285750" indent="-285750">
              <a:buFont typeface="Arial"/>
              <a:buChar char="•"/>
            </a:pPr>
            <a:r>
              <a:rPr lang="en-US" sz="1600" noProof="0">
                <a:solidFill>
                  <a:srgbClr val="8FA3A1"/>
                </a:solidFill>
              </a:rPr>
              <a:t>Data quality checks and sequence validation implemented in Python scripts</a:t>
            </a:r>
          </a:p>
          <a:p>
            <a:pPr marL="285750" indent="-285750">
              <a:buFont typeface="Arial"/>
              <a:buChar char="•"/>
            </a:pPr>
            <a:r>
              <a:rPr lang="en-US" sz="1600" noProof="0">
                <a:solidFill>
                  <a:srgbClr val="8FA3A1"/>
                </a:solidFill>
              </a:rPr>
              <a:t>All analyses are fully reproducible based on the provided repository structure: </a:t>
            </a:r>
            <a:r>
              <a:rPr lang="en-US" sz="1600" noProof="0">
                <a:solidFill>
                  <a:srgbClr val="8FA3A1"/>
                </a:solidFill>
                <a:ea typeface="+mn-lt"/>
                <a:cs typeface="+mn-lt"/>
                <a:hlinkClick r:id="rId2"/>
              </a:rPr>
              <a:t>https://github.com/mmoershe/dis26a1_process_mining</a:t>
            </a:r>
            <a:r>
              <a:rPr lang="en-US" sz="1600" noProof="0">
                <a:solidFill>
                  <a:srgbClr val="8FA3A1"/>
                </a:solidFill>
                <a:ea typeface="+mn-lt"/>
                <a:cs typeface="+mn-lt"/>
              </a:rPr>
              <a:t> </a:t>
            </a:r>
          </a:p>
          <a:p>
            <a:pPr marL="285750" indent="-285750">
              <a:buFont typeface="Arial"/>
              <a:buChar char="•"/>
            </a:pPr>
            <a:endParaRPr lang="en-US" sz="1600" noProof="0">
              <a:solidFill>
                <a:srgbClr val="8FA3A1"/>
              </a:solidFill>
              <a:ea typeface="+mn-lt"/>
              <a:cs typeface="+mn-lt"/>
            </a:endParaRPr>
          </a:p>
          <a:p>
            <a:r>
              <a:rPr lang="en-US" sz="1600" noProof="0" err="1">
                <a:solidFill>
                  <a:srgbClr val="8FA3A1"/>
                </a:solidFill>
                <a:ea typeface="+mn-lt"/>
                <a:cs typeface="+mn-lt"/>
              </a:rPr>
              <a:t>Celonis</a:t>
            </a:r>
            <a:r>
              <a:rPr lang="en-US" sz="1600" noProof="0">
                <a:solidFill>
                  <a:srgbClr val="8FA3A1"/>
                </a:solidFill>
                <a:ea typeface="+mn-lt"/>
                <a:cs typeface="+mn-lt"/>
              </a:rPr>
              <a:t> Dashboard:</a:t>
            </a:r>
          </a:p>
          <a:p>
            <a:r>
              <a:rPr lang="en-US" sz="1000">
                <a:solidFill>
                  <a:srgbClr val="8FA3A1"/>
                </a:solidFill>
                <a:ea typeface="+mn-lt"/>
                <a:cs typeface="+mn-lt"/>
              </a:rPr>
              <a:t>https://academic-celonis-0fm1g1.eu-2.celonis.cloud/package-manager/ui/studio/ui/spaces/44f58993-390a-49ba-bb45-913a7efb1513/packages/6031c063-b7d6-4ba8-80fd-33937b708a93/nodes/cb811a3e-2d40-4441-b944-abe40f31dc83?activeTabs=dd3867aa_e9a4_498f_89d0_8ed80f1cd164-view:b05c11e2-e496-4643-8292-065003342a70</a:t>
            </a:r>
          </a:p>
          <a:p>
            <a:endParaRPr lang="en-US" sz="1000" noProof="0">
              <a:solidFill>
                <a:srgbClr val="8FA3A1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1BE1C011-13D8-7D5E-FB20-AE8716DA4A11}"/>
              </a:ext>
            </a:extLst>
          </p:cNvPr>
          <p:cNvSpPr txBox="1"/>
          <p:nvPr/>
        </p:nvSpPr>
        <p:spPr>
          <a:xfrm>
            <a:off x="460664" y="1914314"/>
            <a:ext cx="9105636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3200" b="1" noProof="0">
                <a:solidFill>
                  <a:srgbClr val="1F4E4A"/>
                </a:solidFill>
                <a:ea typeface="+mn-lt"/>
                <a:cs typeface="+mn-lt"/>
              </a:rPr>
              <a:t>Documentation &amp; Reproducibility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8044147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Teal Green - Portfolio">
      <a:dk1>
        <a:srgbClr val="202124"/>
      </a:dk1>
      <a:lt1>
        <a:srgbClr val="F3F6F6"/>
      </a:lt1>
      <a:dk2>
        <a:srgbClr val="1F4E4A"/>
      </a:dk2>
      <a:lt2>
        <a:srgbClr val="E7EFEF"/>
      </a:lt2>
      <a:accent1>
        <a:srgbClr val="5FB3A2"/>
      </a:accent1>
      <a:accent2>
        <a:srgbClr val="D8B35A"/>
      </a:accent2>
      <a:accent3>
        <a:srgbClr val="8FA3A1"/>
      </a:accent3>
      <a:accent4>
        <a:srgbClr val="9ED6CB"/>
      </a:accent4>
      <a:accent5>
        <a:srgbClr val="6B7F8C"/>
      </a:accent5>
      <a:accent6>
        <a:srgbClr val="CCCCCC"/>
      </a:accent6>
      <a:hlink>
        <a:srgbClr val="5FB3A2"/>
      </a:hlink>
      <a:folHlink>
        <a:srgbClr val="4A8F84"/>
      </a:folHlink>
    </a:clrScheme>
    <a:fontScheme name="Benutzerdefiniert 1">
      <a:majorFont>
        <a:latin typeface="IBM Plex Sans SemiBold"/>
        <a:ea typeface=""/>
        <a:cs typeface=""/>
      </a:majorFont>
      <a:minorFont>
        <a:latin typeface="IBM Plex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EFBAE5E3CCC7E5418CF9C97F6CC23D76" ma:contentTypeVersion="3" ma:contentTypeDescription="Ein neues Dokument erstellen." ma:contentTypeScope="" ma:versionID="e627c0714a4ea731599fb2eb61668b3c">
  <xsd:schema xmlns:xsd="http://www.w3.org/2001/XMLSchema" xmlns:xs="http://www.w3.org/2001/XMLSchema" xmlns:p="http://schemas.microsoft.com/office/2006/metadata/properties" xmlns:ns2="7dd8f8da-3fea-440f-861b-c9b12a4b1a36" targetNamespace="http://schemas.microsoft.com/office/2006/metadata/properties" ma:root="true" ma:fieldsID="0523a9b3edde830b47f3e28dc566a25b" ns2:_="">
    <xsd:import namespace="7dd8f8da-3fea-440f-861b-c9b12a4b1a3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d8f8da-3fea-440f-861b-c9b12a4b1a3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872D68B-3942-442C-A529-C4B231C03D9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1229FC3-9095-48CD-B328-E8B96D57EFC0}">
  <ds:schemaRefs>
    <ds:schemaRef ds:uri="http://purl.org/dc/dcmitype/"/>
    <ds:schemaRef ds:uri="http://schemas.openxmlformats.org/package/2006/metadata/core-properties"/>
    <ds:schemaRef ds:uri="http://purl.org/dc/terms/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purl.org/dc/elements/1.1/"/>
    <ds:schemaRef ds:uri="http://schemas.microsoft.com/office/2006/metadata/properties"/>
    <ds:schemaRef ds:uri="7dd8f8da-3fea-440f-861b-c9b12a4b1a36"/>
  </ds:schemaRefs>
</ds:datastoreItem>
</file>

<file path=customXml/itemProps3.xml><?xml version="1.0" encoding="utf-8"?>
<ds:datastoreItem xmlns:ds="http://schemas.openxmlformats.org/officeDocument/2006/customXml" ds:itemID="{B524821D-6035-4161-A1B2-0B81B9359323}">
  <ds:schemaRefs>
    <ds:schemaRef ds:uri="7dd8f8da-3fea-440f-861b-c9b12a4b1a3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2525</Words>
  <Application>Microsoft Office PowerPoint</Application>
  <PresentationFormat>Breitbild</PresentationFormat>
  <Paragraphs>389</Paragraphs>
  <Slides>15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15</vt:i4>
      </vt:variant>
    </vt:vector>
  </HeadingPairs>
  <TitlesOfParts>
    <vt:vector size="21" baseType="lpstr">
      <vt:lpstr>Aptos</vt:lpstr>
      <vt:lpstr>Arial</vt:lpstr>
      <vt:lpstr>IBM Plex Sans</vt:lpstr>
      <vt:lpstr>IBM Plex Sans SemiBold</vt:lpstr>
      <vt:lpstr>Segoe UI</vt:lpstr>
      <vt:lpstr>Office</vt:lpstr>
      <vt:lpstr>Understanding Execution Deviations in the O2C Process at Woodcorp</vt:lpstr>
      <vt:lpstr>Woodcorp’s operating model structurally amplifies O2C execution deviations</vt:lpstr>
      <vt:lpstr>O2C Execution Deviations Undermine Planning Stability and Require Targeted Management Action</vt:lpstr>
      <vt:lpstr>Operational Issue Requires Two Different Management Responses</vt:lpstr>
      <vt:lpstr>Execution Deviations After Order Release Drive ~4 Days of Delay</vt:lpstr>
      <vt:lpstr>A Small Number of Post-Release Rework Patterns Drives Most O2C Delays</vt:lpstr>
      <vt:lpstr>Two Post-Release Execution Gaps Require Immediate Management Attention</vt:lpstr>
      <vt:lpstr>Combining lateness, quantity deviations, value exposure, and frequency enables impact based prioritization</vt:lpstr>
      <vt:lpstr>Post loading quantity corrections affect few orders but drive disproportionate delay and value exposure</vt:lpstr>
      <vt:lpstr>Credit blocks create severe delays for a relevant share of orders but lack a single dominant root cause</vt:lpstr>
      <vt:lpstr>Price changes after sale confirmation introduce significant rework and increase throughput time</vt:lpstr>
      <vt:lpstr>Repeated production rescheduling is a systemic planning issue rather than an isolated execution failure</vt:lpstr>
      <vt:lpstr>Targeted Management Actions</vt:lpstr>
      <vt:lpstr>Thank you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Jan Lucas Krings (jkrings1)</dc:creator>
  <cp:lastModifiedBy>Jan Lucas Krings (jkrings1)</cp:lastModifiedBy>
  <cp:revision>1</cp:revision>
  <dcterms:created xsi:type="dcterms:W3CDTF">2026-01-06T14:36:09Z</dcterms:created>
  <dcterms:modified xsi:type="dcterms:W3CDTF">2026-01-16T18:11:47Z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0x010100EFBAE5E3CCC7E5418CF9C97F6CC23D76</vt:lpwstr>
  </property>
</Properties>
</file>